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c3f5232b-0ef7-cc15-77e1-13d190851bdd}">
          <p14:sldIdLst>
            <p14:sldId id="256"/>
            <p14:sldId id="257"/>
          </p14:sldIdLst>
        </p14:section>
        <p14:section name="Teoría" id="{a2482fad-a24f-a2a6-4d5e-30319e582545}">
          <p14:sldIdLst>
            <p14:sldId id="258"/>
            <p14:sldId id="259"/>
            <p14:sldId id="260"/>
            <p14:sldId id="261"/>
            <p14:sldId id="262"/>
          </p14:sldIdLst>
        </p14:section>
        <p14:section name="Nuestro trabajo" id="{40f40379-ae9e-5477-fad8-fbace5dd8577}">
          <p14:sldIdLst>
            <p14:sldId id="263"/>
            <p14:sldId id="264"/>
            <p14:sldId id="265"/>
          </p14:sldIdLst>
        </p14:section>
        <p14:section name="Evaluación" id="{2fa3f502-a5f0-b8ae-c850-12620d3541e1}">
          <p14:sldIdLst>
            <p14:sldId id="266"/>
            <p14:sldId id="267"/>
            <p14:sldId id="268"/>
          </p14:sldIdLst>
        </p14:section>
        <p14:section name="Cierre" id="{3935b299-64b6-781f-4220-582a02a66990}">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Régimen nominal</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dLblPos val="t"/>
            <c:showLegendKey val="0"/>
            <c:showVal val="1"/>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Sheet1!$A$2:$A$6</c:f>
              <c:multiLvlStrCache>
                <c:ptCount val="5"/>
                <c:lvl>
                  <c:pt idx="0">
                    <c:v>0.1</c:v>
                  </c:pt>
                  <c:pt idx="1">
                    <c:v>0.3</c:v>
                  </c:pt>
                  <c:pt idx="2">
                    <c:v>0.5</c:v>
                  </c:pt>
                  <c:pt idx="3">
                    <c:v>0.7</c:v>
                  </c:pt>
                  <c:pt idx="4">
                    <c:v>0.9</c:v>
                  </c:pt>
                </c:lvl>
              </c:multiLvlStrCache>
            </c:multiLvlStrRef>
          </c:cat>
          <c:val>
            <c:numRef>
              <c:f>Sheet1!$B$2:$B$6</c:f>
              <c:numCache>
                <c:formatCode>General</c:formatCode>
                <c:ptCount val="5"/>
                <c:pt idx="0">
                  <c:v>4</c:v>
                </c:pt>
                <c:pt idx="1">
                  <c:v>4</c:v>
                </c:pt>
                <c:pt idx="2">
                  <c:v>8</c:v>
                </c:pt>
                <c:pt idx="3">
                  <c:v>8</c:v>
                </c:pt>
                <c:pt idx="4">
                  <c:v>8</c:v>
                </c:pt>
              </c:numCache>
            </c:numRef>
          </c:val>
          <c:smooth val="0"/>
        </c:ser>
        <c:ser>
          <c:idx val="1"/>
          <c:order val="1"/>
          <c:tx>
            <c:strRef>
              <c:f>Sheet1!$C$1</c:f>
              <c:strCache>
                <c:ptCount val="1"/>
                <c:pt idx="0">
                  <c:v>Régimen de estrés</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100" u="none">
                    <a:solidFill>
                      <a:srgbClr val="14213D"/>
                    </a:solidFill>
                    <a:latin typeface="+mn-lt"/>
                  </a:defRPr>
                </a:pPr>
              </a:p>
            </c:txPr>
            <c:dLblPos val="t"/>
            <c:showLegendKey val="0"/>
            <c:showVal val="1"/>
            <c:showCatName val="0"/>
            <c:showSerName val="0"/>
            <c:showPercent val="0"/>
            <c:showBubbleSize val="0"/>
            <c:showLeaderLines val="0"/>
          </c:dLbls>
          <c:marker>
            <c:symbol val="circle"/>
            <c:size val="8"/>
            <c:spPr>
              <a:solidFill>
                <a:srgbClr val="EB6834"/>
              </a:solidFill>
              <a:ln w="9525" cap="flat">
                <a:solidFill>
                  <a:srgbClr val="EB6834"/>
                </a:solidFill>
                <a:prstDash val="solid"/>
                <a:round/>
              </a:ln>
              <a:effectLst/>
            </c:spPr>
          </c:marker>
          <c:cat>
            <c:multiLvlStrRef>
              <c:f>Sheet1!$A$2:$A$6</c:f>
              <c:multiLvlStrCache>
                <c:ptCount val="5"/>
                <c:lvl>
                  <c:pt idx="0">
                    <c:v>0.1</c:v>
                  </c:pt>
                  <c:pt idx="1">
                    <c:v>0.3</c:v>
                  </c:pt>
                  <c:pt idx="2">
                    <c:v>0.5</c:v>
                  </c:pt>
                  <c:pt idx="3">
                    <c:v>0.7</c:v>
                  </c:pt>
                  <c:pt idx="4">
                    <c:v>0.9</c:v>
                  </c:pt>
                </c:lvl>
              </c:multiLvlStrCache>
            </c:multiLvlStrRef>
          </c:cat>
          <c:val>
            <c:numRef>
              <c:f>Sheet1!$C$2:$C$6</c:f>
              <c:numCache>
                <c:formatCode>General</c:formatCode>
                <c:ptCount val="5"/>
                <c:pt idx="0">
                  <c:v>2</c:v>
                </c:pt>
                <c:pt idx="1">
                  <c:v>2</c:v>
                </c:pt>
                <c:pt idx="2">
                  <c:v>4</c:v>
                </c:pt>
                <c:pt idx="3">
                  <c:v>5</c:v>
                </c:pt>
                <c:pt idx="4">
                  <c:v>7</c:v>
                </c:pt>
              </c:numCache>
            </c:numRef>
          </c:val>
          <c:smooth val="0"/>
        </c:ser>
        <c:dLbls>
          <c:numFmt formatCode="#,##0" sourceLinked="0"/>
          <c:txPr>
            <a:bodyPr/>
            <a:lstStyle/>
            <a:p>
              <a:pPr>
                <a:defRPr b="0" i="0" strike="noStrike" sz="1100" u="none">
                  <a:solidFill>
                    <a:srgbClr val="14213D"/>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2514E"/>
                    </a:solidFill>
                    <a:latin typeface="Arial"/>
                  </a:defRPr>
                </a:pPr>
                <a:r>
                  <a:rPr sz="1200" b="0" i="0" u="none" strike="noStrike">
                    <a:solidFill>
                      <a:srgbClr val="52514E"/>
                    </a:solidFill>
                    <a:latin typeface="Arial"/>
                  </a:rPr>
                  <a:t>Vigilancia ρ</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4E3DF"/>
              </a:solidFill>
              <a:prstDash val="solid"/>
              <a:round/>
            </a:ln>
          </c:spPr>
        </c:majorGridlines>
        <c:title>
          <c:tx>
            <c:rich>
              <a:bodyPr/>
              <a:lstStyle/>
              <a:p>
                <a:pPr>
                  <a:defRPr sz="1200" b="0" i="0" u="none" strike="noStrike">
                    <a:solidFill>
                      <a:srgbClr val="52514E"/>
                    </a:solidFill>
                    <a:latin typeface="Arial"/>
                  </a:defRPr>
                </a:pPr>
                <a:r>
                  <a:rPr sz="1200" b="0" i="0" u="none" strike="noStrike">
                    <a:solidFill>
                      <a:srgbClr val="52514E"/>
                    </a:solidFill>
                    <a:latin typeface="Arial"/>
                  </a:rPr>
                  <a:t>Categorías (M)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al Museo de Redes Neuronales. En esta sala vamos a conocer la red de Carpenter y Grossberg, una red neuronal que tiene una habilidad que parece obvia en las personas pero que es muy difícil de lograr en una máquina: aprender cosas nuevas sin olvidar lo que ya sabe. Somos Mauro Mottet, Agustín Scheffler, Candela Rojas y Florencia Colazo, de la cátedra de Inteligencia Artificial de la UADER.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Pensemos en cómo aprendemos las personas. Si conocemos a alguien nuevo, no nos olvidamos de nuestros amigos de siempre. Para una red neuronal esto no es tan simple. Stephen Grossberg lo llamó el dilema estabilidad-plasticidad: la red tiene que ser plástica, para aprender rápido lo que es realmente nuevo, y a la vez estable, para no borrar lo que ya aprendió. Muchas redes clásicas fallan en una de las dos cosas: o se entrenan una vez y quedan congeladas, o cuando se las vuelve a entrenar pisan su conocimiento anterior. La red de Carpenter y Grossberg nació para resolver este dilema.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historia empieza en 1976, cuando Stephen Grossberg propone la Teoría de Resonancia Adaptativa, conocida como ART por sus siglas en inglés. En 1987, junto con Gail Carpenter, en la Universidad de Boston, publica ART-1, la primera red completa de esta familia, que trabaja con entradas binarias: ceros y unos. Ese mismo año Richard Lippmann la incluye en su famoso artículo de introducción a las redes neuronales, y la describe como una implementación neuronal del algoritmo del líder. También en 1987 aparece ART-2, para entradas continuas, y en 1991 llegan Fuzzy ART, que usa lógica difusa, y ARTMAP, una versión supervisada. En este trabajo nos concentramos en ART-1, la red de Carpenter-Grossberg que describe Lippmann.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red tiene dos capas. Abajo está la capa F1, de entrada, con una neurona por cada variable: en nuestro caso cinco. Arriba está la capa F2, de salida, con una neurona por cada categoría que la red fue creando. Las capas están unidas en las dos direcciones. Los pesos que suben, llamados ascendentes, miden cuánto se parece la entrada a cada categoría, y las neuronas de F2 compiten entre sí hasta que queda una sola ganadora. Los pesos que bajan, llamados descendentes, guardan el prototipo de cada categoría y lo devuelven a la capa de entrada para compararlo con el patrón real. Si el parecido no alcanza el nivel de vigilancia, se dispara un reset: la ganadora se descarta y se busca la siguiente. Cuando lo que la red ve y lo que recuerda coinciden, se dice que la red entra en resonancia, y de ahí viene el nombre de la teoría.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el algoritmo, tal como lo describe Lippmann en el Box 3 de su artículo. Uno: llega un patrón de ceros y unos. Dos: todas las categorías calculan un puntaje con sus pesos ascendentes y gana la de mayor puntaje. Tres: se compara el patrón con el prototipo de la ganadora: qué fracción de los unos del patrón también está en el prototipo. Si esa fracción supera la vigilancia, hay resonancia. Cuatro: en ese caso la categoría aprende, y lo hace con una operación lógica AND: el prototipo se queda solo con los rasgos que comparte con el patrón nuevo. Cinco: si no supera la vigilancia, se dispara el reset, esa categoría queda fuera y compite la siguiente. Si ninguna categoría existente sirve, una neurona libre se convierte en una categoría nueva. Por eso la red no necesita saber de antemano cuántos grupos hay.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Lippmann ilustra la red con letras dibujadas en una grilla. Nosotros reprodujimos el experimento con letras de cinco por cinco. Con una vigilancia alta, de 0.9, la red crea tres categorías, una por letra. Si bajamos la vigilancia a 0.8, la E se parece lo suficiente a la C: comparte 13 de sus 15 píxeles. Entonces la red las junta y, por el AND, el prototipo queda igual a la C. Y si llega una F con un píxel faltante, la red la acepta como F, pero el AND borra ese píxel del prototipo para siempre. Esto muestra la gran debilidad de la red: es sensible al ruido. Estos tres comportamientos están verificados con pruebas automáticas en nuestro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parámetro más importante de la red es la vigilancia, ro. Es un número entre cero y uno que define qué tan parecidos tienen que ser dos patrones para quedar en la misma categoría. Con nuestro dataset de estrés, de cien registros, una vigilancia de 0.3 produce solo dos categorías: la red es tolerante y mezcla patrones distintos. El riesgo es que una anomalía quede escondida dentro del comportamiento normal. Con una vigilancia de 0.9, en cambio, la red crea siete categorías, porque exige coincidencias casi exactas. Si los datos tienen ruido, las categorías se multiplican. Elegir ro es elegir el nivel de detalle con el que la red mira el mundo.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Llevamos la red a un problema real: descubrir los estados de operación de un servidor sin que nadie le diga cuáles son. Partimos de 2243 registros de telemetría, tomados cada cinco minutos durante ocho días, con el uso de CPU, memoria, disco y tráfico de red. Como ART-1 solo acepta ceros y unos, convertimos cada métrica en una alerta: vale uno cuando la métrica está en el diez por ciento más alto del período. Descartamos los registros sin ninguna alerta, porque el vector de ceros no se puede procesar, y quedaron 609. Con ellos armamos dos datasets de cien registros: uno de operación nominal, con una o dos alertas a la vez, y otro de estrés, con tres o más. La pregunta es si la red descubre sola esos estados y si reconoce el estrés como algo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resultados. El gráfico muestra cuántas categorías forma la red según la vigilancia, para los dos datasets. En el régimen nominal, con una vigilancia de 0.5 o más, la red separa cada combinación de alertas en su propia categoría: picos de disco, picos de CPU, de memoria, de tráfico de red. En el régimen de estrés la red resume mucho más: el estado dominante es memoria y red altas, con el 57 por ciento de los registros, seguido de CPU, memoria y disco a la vez. También comprobamos que el orden de presentación importa: si mezclamos los registros, los grupos cambian de tamaño. Es una característica propia del algoritmo del líder.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Hicimos un último experimento, el más interesante. Primero le mostramos a la red los cien registros de operación normal y después, sin avisarle, los cien de estrés, como si estuviera monitoreando el servidor en vivo. Con una vigilancia de 0.3, 96 de los 100 registros de estrés caen en categorías que la red ya conocía: no se da cuenta de que algo cambió. Con 0.5, todavía se confunden 27. Pero con una vigilancia de 0.7, ningún registro de estrés se confunde con lo normal: la red crea cinco categorías nuevas. Eso es exactamente lo que buscábamos: detectar una situación anómala sin haberle enseñado nunca qué es una anomalía.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¿Dónde se usan estas redes? Su capacidad de aprender en línea sin olvidar las hace útiles en muchos campos. En el reconocimiento de caracteres y patrones, como en el ejemplo de las letras. En la detección de intrusiones en redes informáticas, donde un ataque nuevo es justamente algo que no se parece a nada conocido. En el monitoreo de sistemas y máquinas, que es nuestro caso. En robótica, donde el robot tiene que aprender de su entorno mientras funciona. En la clasificación de imágenes satelitales y de radar, sobre todo con ARTMAP. Y en el diagnóstico médico, para agrupar casos clínicos y señales.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Hagamos un balance. Entre sus fortalezas: no hace falta decirle cuántos grupos buscar, aprende en una sola pasada y en línea, lo que aprende de nuevo no borra lo anterior, y sus prototipos son vectores de ceros y unos que se interpretan a simple vista. Entre sus debilidades: ART-1 solo acepta datos binarios, así que hay que binarizar con cuidado; es muy sensible al ruido, porque el AND borra para siempre los rasgos perdidos; el resultado depende del orden en que llegan los datos; y elegir la vigilancia adecuada requiere experimentar, como hicimos nosotros.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qué se diferencia de otras redes? El perceptrón es supervisado: necesita que le digamos la respuesta correcta. La red de Hamming, que Lippmann presenta justo antes, compara la entrada con ejemplares que se le dan de antemano. El mapa de Kohonen y el algoritmo K-Means son no supervisados, como ART, pero hay que fijar la cantidad de grupos y recorren los datos muchas veces, por épocas. Si llegan datos nuevos, hay que reentrenar. La red de Carpenter-Grossberg es no supervisada, la cantidad de categorías crece sola según la vigilancia y aprende en línea sin olvidar. Su limitación es que solo acepta ceros y unos, y eso lo resuelven sus sucesoras, Fuzzy ART y ART-2, que trabajan con valores continuos.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tres ideas. Primero, la resonancia: la red de Carpenter-Grossberg solo aprende cuando lo que ve coincide con lo que recuerda, y así resuelve el dilema de aprender sin olvidar. Segundo, la vigilancia: es la lupa de la red y define cuánto detalle mira y cuándo algo es realmente nuevo. Tercero, en nuestro servidor, con una vigilancia de 0.7, la red distinguió el régimen de estrés del normal sin que nadie le enseñara qué es una anomalía. El código, los datasets y el manual están en nuestro repositorio. Pueden probarlo con una sola línea en la terminal. Gracias por visitar esta sala del Museo de Redes Neuronales.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Museo de Redes Neuronales · Carpenter-Grossberg</a:t>
            </a:r>
            <a:endParaRPr lang="en-US" sz="1000" dirty="0"/>
          </a:p>
        </p:txBody>
      </p:sp>
      <p:sp>
        <p:nvSpPr>
          <p:cNvPr id="3" name="Text 1"/>
          <p:cNvSpPr/>
          <p:nvPr>
            <p:ph idx="101"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O">
    <p:bg>
      <p:bgPr>
        <a:solidFill>
          <a:srgbClr val="0D1B2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5120640" cy="320040"/>
          </a:xfrm>
          <a:prstGeom prst="rect">
            <a:avLst/>
          </a:prstGeom>
          <a:noFill/>
          <a:ln/>
        </p:spPr>
        <p:txBody>
          <a:bodyPr wrap="square" lIns="0" tIns="0" rIns="0" bIns="0" rtlCol="0" anchor="t"/>
          <a:lstStyle/>
          <a:p>
            <a:pPr indent="0" marL="0">
              <a:buNone/>
            </a:pPr>
            <a:r>
              <a:rPr lang="en-US" sz="1400" dirty="0">
                <a:solidFill>
                  <a:schemeClr val="accent2"/>
                </a:solidFill>
              </a:rPr>
              <a:t>Museo de Redes Neuronales · Trabajo Final Integrador</a:t>
            </a:r>
            <a:endParaRPr lang="en-US" sz="1400" dirty="0"/>
          </a:p>
        </p:txBody>
      </p:sp>
      <p:sp>
        <p:nvSpPr>
          <p:cNvPr id="3" name="Text 1"/>
          <p:cNvSpPr txBox="1"/>
          <p:nvPr/>
        </p:nvSpPr>
        <p:spPr>
          <a:xfrm>
            <a:off x="548640" y="914400"/>
            <a:ext cx="5486400" cy="73152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Carpenter-Grossberg</a:t>
            </a:r>
            <a:endParaRPr lang="en-US" sz="3600" dirty="0"/>
          </a:p>
        </p:txBody>
      </p:sp>
      <p:sp>
        <p:nvSpPr>
          <p:cNvPr id="4" name="Text 2"/>
          <p:cNvSpPr txBox="1"/>
          <p:nvPr/>
        </p:nvSpPr>
        <p:spPr>
          <a:xfrm>
            <a:off x="548640" y="1691640"/>
            <a:ext cx="5303520" cy="457200"/>
          </a:xfrm>
          <a:prstGeom prst="rect">
            <a:avLst/>
          </a:prstGeom>
          <a:noFill/>
          <a:ln/>
        </p:spPr>
        <p:txBody>
          <a:bodyPr wrap="square" lIns="0" tIns="0" rIns="0" bIns="0" rtlCol="0" anchor="t"/>
          <a:lstStyle/>
          <a:p>
            <a:pPr indent="0" marL="0">
              <a:buNone/>
            </a:pPr>
            <a:r>
              <a:rPr lang="en-US" sz="2400" i="1" dirty="0">
                <a:solidFill>
                  <a:schemeClr val="bg2"/>
                </a:solidFill>
                <a:latin typeface="Cambria" pitchFamily="34" charset="0"/>
                <a:ea typeface="Cambria" pitchFamily="34" charset="-122"/>
                <a:cs typeface="Cambria" pitchFamily="34" charset="-120"/>
              </a:rPr>
              <a:t>La red que aprende sin olvidar</a:t>
            </a:r>
            <a:endParaRPr lang="en-US" sz="2400" dirty="0"/>
          </a:p>
        </p:txBody>
      </p:sp>
      <p:sp>
        <p:nvSpPr>
          <p:cNvPr id="5" name="Text 3"/>
          <p:cNvSpPr txBox="1"/>
          <p:nvPr/>
        </p:nvSpPr>
        <p:spPr>
          <a:xfrm>
            <a:off x="548640" y="2514600"/>
            <a:ext cx="5486400" cy="914400"/>
          </a:xfrm>
          <a:prstGeom prst="rect">
            <a:avLst/>
          </a:prstGeom>
          <a:noFill/>
          <a:ln/>
        </p:spPr>
        <p:txBody>
          <a:bodyPr wrap="square" lIns="0" tIns="0" rIns="0" bIns="0" rtlCol="0" anchor="t"/>
          <a:lstStyle/>
          <a:p>
            <a:pPr indent="0" marL="0">
              <a:spcAft>
                <a:spcPts val="400"/>
              </a:spcAft>
              <a:buNone/>
            </a:pPr>
            <a:r>
              <a:rPr lang="en-US" sz="1400" dirty="0">
                <a:solidFill>
                  <a:schemeClr val="accent5"/>
                </a:solidFill>
              </a:rPr>
              <a:t>Mauro Mottet · Agustín Scheffler · Candela Rojas · Florencia Colazo</a:t>
            </a:r>
            <a:endParaRPr lang="en-US" sz="1400" dirty="0"/>
          </a:p>
          <a:p>
            <a:pPr indent="0" marL="0">
              <a:spcAft>
                <a:spcPts val="400"/>
              </a:spcAft>
              <a:buNone/>
            </a:pPr>
            <a:r>
              <a:rPr lang="en-US" sz="1400" dirty="0">
                <a:solidFill>
                  <a:schemeClr val="accent5"/>
                </a:solidFill>
              </a:rPr>
              <a:t>Inteligencia Artificial · Lic. en Sistemas de Información · FCyT UADER</a:t>
            </a:r>
            <a:endParaRPr lang="en-US" sz="1400" dirty="0"/>
          </a:p>
          <a:p>
            <a:pPr indent="0" marL="0">
              <a:spcAft>
                <a:spcPts val="400"/>
              </a:spcAft>
              <a:buNone/>
            </a:pPr>
            <a:r>
              <a:rPr lang="en-US" sz="1400" dirty="0">
                <a:solidFill>
                  <a:schemeClr val="accent5"/>
                </a:solidFill>
              </a:rPr>
              <a:t>Docentes: Dra. Daniela López De Luise · Alejandro Pérez</a:t>
            </a:r>
            <a:endParaRPr lang="en-US" sz="1400" dirty="0"/>
          </a:p>
        </p:txBody>
      </p:sp>
      <p:sp>
        <p:nvSpPr>
          <p:cNvPr id="6" name="Shape 4"/>
          <p:cNvSpPr/>
          <p:nvPr/>
        </p:nvSpPr>
        <p:spPr>
          <a:xfrm flipH="1">
            <a:off x="6355080" y="1143000"/>
            <a:ext cx="457200" cy="1554480"/>
          </a:xfrm>
          <a:prstGeom prst="line">
            <a:avLst/>
          </a:prstGeom>
          <a:noFill/>
          <a:ln w="12700">
            <a:solidFill>
              <a:srgbClr val="8D99AE"/>
            </a:solidFill>
            <a:prstDash val="solid"/>
          </a:ln>
        </p:spPr>
      </p:sp>
      <p:sp>
        <p:nvSpPr>
          <p:cNvPr id="7" name="Shape 5"/>
          <p:cNvSpPr/>
          <p:nvPr/>
        </p:nvSpPr>
        <p:spPr>
          <a:xfrm flipH="1">
            <a:off x="6355080" y="1143000"/>
            <a:ext cx="1554480" cy="1554480"/>
          </a:xfrm>
          <a:prstGeom prst="line">
            <a:avLst/>
          </a:prstGeom>
          <a:noFill/>
          <a:ln w="12700">
            <a:solidFill>
              <a:srgbClr val="8D99AE"/>
            </a:solidFill>
            <a:prstDash val="solid"/>
          </a:ln>
        </p:spPr>
      </p:sp>
      <p:sp>
        <p:nvSpPr>
          <p:cNvPr id="8" name="Shape 6"/>
          <p:cNvSpPr/>
          <p:nvPr/>
        </p:nvSpPr>
        <p:spPr>
          <a:xfrm>
            <a:off x="6812280" y="1143000"/>
            <a:ext cx="548640" cy="1554480"/>
          </a:xfrm>
          <a:prstGeom prst="line">
            <a:avLst/>
          </a:prstGeom>
          <a:noFill/>
          <a:ln w="12700">
            <a:solidFill>
              <a:srgbClr val="8D99AE"/>
            </a:solidFill>
            <a:prstDash val="solid"/>
          </a:ln>
        </p:spPr>
      </p:sp>
      <p:sp>
        <p:nvSpPr>
          <p:cNvPr id="9" name="Shape 7"/>
          <p:cNvSpPr/>
          <p:nvPr/>
        </p:nvSpPr>
        <p:spPr>
          <a:xfrm flipH="1">
            <a:off x="7360920" y="1143000"/>
            <a:ext cx="548640" cy="1554480"/>
          </a:xfrm>
          <a:prstGeom prst="line">
            <a:avLst/>
          </a:prstGeom>
          <a:noFill/>
          <a:ln w="12700">
            <a:solidFill>
              <a:srgbClr val="8D99AE"/>
            </a:solidFill>
            <a:prstDash val="solid"/>
          </a:ln>
        </p:spPr>
      </p:sp>
      <p:sp>
        <p:nvSpPr>
          <p:cNvPr id="10" name="Shape 8"/>
          <p:cNvSpPr/>
          <p:nvPr/>
        </p:nvSpPr>
        <p:spPr>
          <a:xfrm>
            <a:off x="6812280" y="1143000"/>
            <a:ext cx="1554480" cy="1554480"/>
          </a:xfrm>
          <a:prstGeom prst="line">
            <a:avLst/>
          </a:prstGeom>
          <a:noFill/>
          <a:ln w="12700">
            <a:solidFill>
              <a:srgbClr val="8D99AE"/>
            </a:solidFill>
            <a:prstDash val="solid"/>
          </a:ln>
        </p:spPr>
      </p:sp>
      <p:sp>
        <p:nvSpPr>
          <p:cNvPr id="11" name="Shape 9"/>
          <p:cNvSpPr/>
          <p:nvPr/>
        </p:nvSpPr>
        <p:spPr>
          <a:xfrm>
            <a:off x="7909560" y="1143000"/>
            <a:ext cx="457200" cy="1554480"/>
          </a:xfrm>
          <a:prstGeom prst="line">
            <a:avLst/>
          </a:prstGeom>
          <a:noFill/>
          <a:ln w="12700">
            <a:solidFill>
              <a:srgbClr val="8D99AE"/>
            </a:solidFill>
            <a:prstDash val="solid"/>
          </a:ln>
        </p:spPr>
      </p:sp>
      <p:sp>
        <p:nvSpPr>
          <p:cNvPr id="12" name="neurona"/>
          <p:cNvSpPr/>
          <p:nvPr/>
        </p:nvSpPr>
        <p:spPr>
          <a:xfrm>
            <a:off x="6583680" y="914400"/>
            <a:ext cx="457200" cy="457200"/>
          </a:xfrm>
          <a:prstGeom prst="ellipse">
            <a:avLst/>
          </a:prstGeom>
          <a:solidFill>
            <a:schemeClr val="accent2"/>
          </a:solidFill>
          <a:ln w="12700">
            <a:solidFill>
              <a:schemeClr val="accent2"/>
            </a:solidFill>
            <a:prstDash val="solid"/>
          </a:ln>
        </p:spPr>
      </p:sp>
      <p:sp>
        <p:nvSpPr>
          <p:cNvPr id="13" name="neurona"/>
          <p:cNvSpPr/>
          <p:nvPr/>
        </p:nvSpPr>
        <p:spPr>
          <a:xfrm>
            <a:off x="7680960" y="914400"/>
            <a:ext cx="457200" cy="457200"/>
          </a:xfrm>
          <a:prstGeom prst="ellipse">
            <a:avLst/>
          </a:prstGeom>
          <a:solidFill>
            <a:schemeClr val="accent2"/>
          </a:solidFill>
          <a:ln w="12700">
            <a:solidFill>
              <a:schemeClr val="accent2"/>
            </a:solidFill>
            <a:prstDash val="solid"/>
          </a:ln>
        </p:spPr>
      </p:sp>
      <p:sp>
        <p:nvSpPr>
          <p:cNvPr id="14" name="neurona"/>
          <p:cNvSpPr/>
          <p:nvPr/>
        </p:nvSpPr>
        <p:spPr>
          <a:xfrm>
            <a:off x="6126480" y="2468880"/>
            <a:ext cx="457200" cy="457200"/>
          </a:xfrm>
          <a:prstGeom prst="ellipse">
            <a:avLst/>
          </a:prstGeom>
          <a:solidFill>
            <a:schemeClr val="accent1"/>
          </a:solidFill>
          <a:ln w="12700">
            <a:solidFill>
              <a:schemeClr val="accent1"/>
            </a:solidFill>
            <a:prstDash val="solid"/>
          </a:ln>
        </p:spPr>
      </p:sp>
      <p:sp>
        <p:nvSpPr>
          <p:cNvPr id="15" name="neurona"/>
          <p:cNvSpPr/>
          <p:nvPr/>
        </p:nvSpPr>
        <p:spPr>
          <a:xfrm>
            <a:off x="7132320" y="2468880"/>
            <a:ext cx="457200" cy="457200"/>
          </a:xfrm>
          <a:prstGeom prst="ellipse">
            <a:avLst/>
          </a:prstGeom>
          <a:solidFill>
            <a:schemeClr val="accent1"/>
          </a:solidFill>
          <a:ln w="12700">
            <a:solidFill>
              <a:schemeClr val="accent1"/>
            </a:solidFill>
            <a:prstDash val="solid"/>
          </a:ln>
        </p:spPr>
      </p:sp>
      <p:sp>
        <p:nvSpPr>
          <p:cNvPr id="16" name="neurona"/>
          <p:cNvSpPr/>
          <p:nvPr/>
        </p:nvSpPr>
        <p:spPr>
          <a:xfrm>
            <a:off x="8138160" y="2468880"/>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6400800" y="548640"/>
            <a:ext cx="2011680" cy="274320"/>
          </a:xfrm>
          <a:prstGeom prst="rect">
            <a:avLst/>
          </a:prstGeom>
          <a:noFill/>
          <a:ln/>
        </p:spPr>
        <p:txBody>
          <a:bodyPr wrap="square" lIns="0" tIns="0" rIns="0" bIns="0" rtlCol="0" anchor="t"/>
          <a:lstStyle/>
          <a:p>
            <a:pPr algn="ctr" indent="0" marL="0">
              <a:buNone/>
            </a:pPr>
            <a:r>
              <a:rPr lang="en-US" sz="1200" dirty="0">
                <a:solidFill>
                  <a:schemeClr val="accent5"/>
                </a:solidFill>
              </a:rPr>
              <a:t>F2 · categorías</a:t>
            </a:r>
            <a:endParaRPr lang="en-US" sz="1200" dirty="0"/>
          </a:p>
        </p:txBody>
      </p:sp>
      <p:sp>
        <p:nvSpPr>
          <p:cNvPr id="18" name="Text 16"/>
          <p:cNvSpPr txBox="1"/>
          <p:nvPr/>
        </p:nvSpPr>
        <p:spPr>
          <a:xfrm>
            <a:off x="6400800" y="3017520"/>
            <a:ext cx="2011680" cy="274320"/>
          </a:xfrm>
          <a:prstGeom prst="rect">
            <a:avLst/>
          </a:prstGeom>
          <a:noFill/>
          <a:ln/>
        </p:spPr>
        <p:txBody>
          <a:bodyPr wrap="square" lIns="0" tIns="0" rIns="0" bIns="0" rtlCol="0" anchor="t"/>
          <a:lstStyle/>
          <a:p>
            <a:pPr algn="ctr" indent="0" marL="0">
              <a:buNone/>
            </a:pPr>
            <a:r>
              <a:rPr lang="en-US" sz="1200" dirty="0">
                <a:solidFill>
                  <a:schemeClr val="accent5"/>
                </a:solidFill>
              </a:rPr>
              <a:t>F1 · entrada</a:t>
            </a:r>
            <a:endParaRPr lang="en-US" sz="1200" dirty="0"/>
          </a:p>
        </p:txBody>
      </p:sp>
      <p:sp>
        <p:nvSpPr>
          <p:cNvPr id="19" name="Shape 17"/>
          <p:cNvSpPr/>
          <p:nvPr/>
        </p:nvSpPr>
        <p:spPr>
          <a:xfrm>
            <a:off x="548640" y="3703320"/>
            <a:ext cx="8046720" cy="868680"/>
          </a:xfrm>
          <a:prstGeom prst="roundRect">
            <a:avLst>
              <a:gd name="adj" fmla="val 12632"/>
            </a:avLst>
          </a:prstGeom>
          <a:solidFill>
            <a:schemeClr val="bg1"/>
          </a:solidFill>
          <a:ln w="12700">
            <a:solidFill>
              <a:schemeClr val="bg1"/>
            </a:solidFill>
            <a:prstDash val="solid"/>
          </a:ln>
        </p:spPr>
      </p:sp>
      <p:pic>
        <p:nvPicPr>
          <p:cNvPr id="20" name="Image 0" descr="preencoded.png">    </p:cNvPr>
          <p:cNvPicPr>
            <a:picLocks noChangeAspect="1"/>
          </p:cNvPicPr>
          <p:nvPr/>
        </p:nvPicPr>
        <p:blipFill>
          <a:blip r:embed="rId1"/>
          <a:stretch>
            <a:fillRect/>
          </a:stretch>
        </p:blipFill>
        <p:spPr>
          <a:xfrm>
            <a:off x="822960" y="3840480"/>
            <a:ext cx="3383280" cy="603504"/>
          </a:xfrm>
          <a:prstGeom prst="rect">
            <a:avLst/>
          </a:prstGeom>
        </p:spPr>
      </p:pic>
      <p:pic>
        <p:nvPicPr>
          <p:cNvPr id="21" name="Image 1" descr="preencoded.png">    </p:cNvPr>
          <p:cNvPicPr>
            <a:picLocks noChangeAspect="1"/>
          </p:cNvPicPr>
          <p:nvPr/>
        </p:nvPicPr>
        <p:blipFill>
          <a:blip r:embed="rId2"/>
          <a:stretch>
            <a:fillRect/>
          </a:stretch>
        </p:blipFill>
        <p:spPr>
          <a:xfrm>
            <a:off x="4572000" y="3822192"/>
            <a:ext cx="3291840" cy="64008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El problema: aprender sin olvidar</a:t>
            </a:r>
            <a:endParaRPr lang="en-US" sz="3000" dirty="0"/>
          </a:p>
        </p:txBody>
      </p:sp>
      <p:sp>
        <p:nvSpPr>
          <p:cNvPr id="3" name="Text 1"/>
          <p:cNvSpPr txBox="1"/>
          <p:nvPr/>
        </p:nvSpPr>
        <p:spPr>
          <a:xfrm>
            <a:off x="457200" y="1234440"/>
            <a:ext cx="3566160" cy="1463040"/>
          </a:xfrm>
          <a:prstGeom prst="rect">
            <a:avLst/>
          </a:prstGeom>
          <a:noFill/>
          <a:ln/>
        </p:spPr>
        <p:txBody>
          <a:bodyPr wrap="square" lIns="0" tIns="0" rIns="0" bIns="0" rtlCol="0" anchor="t"/>
          <a:lstStyle/>
          <a:p>
            <a:pPr indent="0" marL="0">
              <a:buNone/>
            </a:pPr>
            <a:r>
              <a:rPr lang="en-US" sz="2000" dirty="0">
                <a:solidFill>
                  <a:schemeClr val="tx1"/>
                </a:solidFill>
                <a:latin typeface="Cambria" pitchFamily="34" charset="0"/>
                <a:ea typeface="Cambria" pitchFamily="34" charset="-122"/>
                <a:cs typeface="Cambria" pitchFamily="34" charset="-120"/>
              </a:rPr>
              <a:t>¿Cómo hace una red para incorporar conocimiento nuevo sin borrar el que ya tiene?</a:t>
            </a:r>
            <a:endParaRPr lang="en-US" sz="2000" dirty="0"/>
          </a:p>
        </p:txBody>
      </p:sp>
      <p:sp>
        <p:nvSpPr>
          <p:cNvPr id="4" name="Text 2"/>
          <p:cNvSpPr txBox="1"/>
          <p:nvPr/>
        </p:nvSpPr>
        <p:spPr>
          <a:xfrm>
            <a:off x="457200" y="2880360"/>
            <a:ext cx="3566160" cy="1280160"/>
          </a:xfrm>
          <a:prstGeom prst="rect">
            <a:avLst/>
          </a:prstGeom>
          <a:noFill/>
          <a:ln/>
        </p:spPr>
        <p:txBody>
          <a:bodyPr wrap="square" lIns="0" tIns="0" rIns="0" bIns="0" rtlCol="0" anchor="t"/>
          <a:lstStyle/>
          <a:p>
            <a:pPr indent="0" marL="0">
              <a:buNone/>
            </a:pPr>
            <a:r>
              <a:rPr lang="en-US" sz="1500" dirty="0">
                <a:solidFill>
                  <a:schemeClr val="tx1"/>
                </a:solidFill>
              </a:rPr>
              <a:t>Grossberg lo llamó el dilema estabilidad-plasticidad. Muchas redes lo resuelven a medias: o se congelan después de entrenar, o al reentrenarlas pisan lo aprendido.</a:t>
            </a:r>
            <a:endParaRPr lang="en-US" sz="1500" dirty="0"/>
          </a:p>
        </p:txBody>
      </p:sp>
      <p:sp>
        <p:nvSpPr>
          <p:cNvPr id="5" name="Shape 3"/>
          <p:cNvSpPr/>
          <p:nvPr/>
        </p:nvSpPr>
        <p:spPr>
          <a:xfrm>
            <a:off x="4389120" y="1234440"/>
            <a:ext cx="4297680" cy="1325880"/>
          </a:xfrm>
          <a:prstGeom prst="roundRect">
            <a:avLst>
              <a:gd name="adj" fmla="val 8276"/>
            </a:avLst>
          </a:prstGeom>
          <a:solidFill>
            <a:schemeClr val="bg2"/>
          </a:solidFill>
          <a:ln w="12700">
            <a:solidFill>
              <a:schemeClr val="bg2"/>
            </a:solidFill>
            <a:prstDash val="solid"/>
          </a:ln>
        </p:spPr>
      </p:sp>
      <p:sp>
        <p:nvSpPr>
          <p:cNvPr id="6" name="neurona"/>
          <p:cNvSpPr/>
          <p:nvPr/>
        </p:nvSpPr>
        <p:spPr>
          <a:xfrm>
            <a:off x="4617720" y="1463040"/>
            <a:ext cx="731520" cy="731520"/>
          </a:xfrm>
          <a:prstGeom prst="ellipse">
            <a:avLst/>
          </a:prstGeom>
          <a:solidFill>
            <a:schemeClr val="accent2"/>
          </a:solidFill>
          <a:ln w="12700">
            <a:solidFill>
              <a:schemeClr val="accent2"/>
            </a:solidFill>
            <a:prstDash val="solid"/>
          </a:ln>
        </p:spPr>
      </p:sp>
      <p:pic>
        <p:nvPicPr>
          <p:cNvPr id="7" name="Image 0" descr="preencoded.png">    </p:cNvPr>
          <p:cNvPicPr>
            <a:picLocks noChangeAspect="1"/>
          </p:cNvPicPr>
          <p:nvPr/>
        </p:nvPicPr>
        <p:blipFill>
          <a:blip r:embed="rId1"/>
          <a:stretch>
            <a:fillRect/>
          </a:stretch>
        </p:blipFill>
        <p:spPr>
          <a:xfrm>
            <a:off x="4800600" y="1645920"/>
            <a:ext cx="365760" cy="365760"/>
          </a:xfrm>
          <a:prstGeom prst="rect">
            <a:avLst/>
          </a:prstGeom>
        </p:spPr>
      </p:pic>
      <p:sp>
        <p:nvSpPr>
          <p:cNvPr id="8" name="Text 5"/>
          <p:cNvSpPr txBox="1"/>
          <p:nvPr/>
        </p:nvSpPr>
        <p:spPr>
          <a:xfrm>
            <a:off x="5577840" y="1463040"/>
            <a:ext cx="2926080" cy="914400"/>
          </a:xfrm>
          <a:prstGeom prst="rect">
            <a:avLst/>
          </a:prstGeom>
          <a:noFill/>
          <a:ln/>
        </p:spPr>
        <p:txBody>
          <a:bodyPr wrap="square" lIns="0" tIns="0" rIns="0" bIns="0" rtlCol="0" anchor="t"/>
          <a:lstStyle/>
          <a:p>
            <a:pPr indent="0" marL="0">
              <a:buNone/>
            </a:pPr>
            <a:r>
              <a:rPr lang="en-US" sz="1800" b="1" dirty="0">
                <a:solidFill>
                  <a:schemeClr val="tx1"/>
                </a:solidFill>
              </a:rPr>
              <a:t>Plasticidad</a:t>
            </a:r>
            <a:endParaRPr lang="en-US" sz="1500" dirty="0"/>
          </a:p>
          <a:p>
            <a:pPr indent="0" marL="0">
              <a:buNone/>
            </a:pPr>
            <a:r>
              <a:rPr lang="en-US" sz="1500" dirty="0">
                <a:solidFill>
                  <a:schemeClr val="tx1"/>
                </a:solidFill>
              </a:rPr>
              <a:t>Aprender rápido lo que es realmente nuevo.</a:t>
            </a:r>
            <a:endParaRPr lang="en-US" sz="1500" dirty="0"/>
          </a:p>
        </p:txBody>
      </p:sp>
      <p:sp>
        <p:nvSpPr>
          <p:cNvPr id="9" name="Shape 6"/>
          <p:cNvSpPr/>
          <p:nvPr/>
        </p:nvSpPr>
        <p:spPr>
          <a:xfrm>
            <a:off x="4389120" y="2743200"/>
            <a:ext cx="4297680" cy="1325880"/>
          </a:xfrm>
          <a:prstGeom prst="roundRect">
            <a:avLst>
              <a:gd name="adj" fmla="val 8276"/>
            </a:avLst>
          </a:prstGeom>
          <a:solidFill>
            <a:schemeClr val="bg2"/>
          </a:solidFill>
          <a:ln w="12700">
            <a:solidFill>
              <a:schemeClr val="bg2"/>
            </a:solidFill>
            <a:prstDash val="solid"/>
          </a:ln>
        </p:spPr>
      </p:sp>
      <p:sp>
        <p:nvSpPr>
          <p:cNvPr id="10" name="neurona"/>
          <p:cNvSpPr/>
          <p:nvPr/>
        </p:nvSpPr>
        <p:spPr>
          <a:xfrm>
            <a:off x="4617720" y="2971800"/>
            <a:ext cx="731520" cy="73152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4800600" y="3154680"/>
            <a:ext cx="365760" cy="365760"/>
          </a:xfrm>
          <a:prstGeom prst="rect">
            <a:avLst/>
          </a:prstGeom>
        </p:spPr>
      </p:pic>
      <p:sp>
        <p:nvSpPr>
          <p:cNvPr id="12" name="Text 8"/>
          <p:cNvSpPr txBox="1"/>
          <p:nvPr/>
        </p:nvSpPr>
        <p:spPr>
          <a:xfrm>
            <a:off x="5577840" y="2971800"/>
            <a:ext cx="2926080" cy="914400"/>
          </a:xfrm>
          <a:prstGeom prst="rect">
            <a:avLst/>
          </a:prstGeom>
          <a:noFill/>
          <a:ln/>
        </p:spPr>
        <p:txBody>
          <a:bodyPr wrap="square" lIns="0" tIns="0" rIns="0" bIns="0" rtlCol="0" anchor="t"/>
          <a:lstStyle/>
          <a:p>
            <a:pPr indent="0" marL="0">
              <a:buNone/>
            </a:pPr>
            <a:r>
              <a:rPr lang="en-US" sz="1800" b="1" dirty="0">
                <a:solidFill>
                  <a:schemeClr val="tx1"/>
                </a:solidFill>
              </a:rPr>
              <a:t>Estabilidad</a:t>
            </a:r>
            <a:endParaRPr lang="en-US" sz="1500" dirty="0"/>
          </a:p>
          <a:p>
            <a:pPr indent="0" marL="0">
              <a:buNone/>
            </a:pPr>
            <a:r>
              <a:rPr lang="en-US" sz="1500" dirty="0">
                <a:solidFill>
                  <a:schemeClr val="tx1"/>
                </a:solidFill>
              </a:rPr>
              <a:t>Conservar lo aprendido aunque lleguen datos nuevos.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Origen: la Teoría de Resonancia Adaptativa</a:t>
            </a:r>
            <a:endParaRPr lang="en-US" sz="3000" dirty="0"/>
          </a:p>
        </p:txBody>
      </p:sp>
      <p:sp>
        <p:nvSpPr>
          <p:cNvPr id="3" name="Shape 1"/>
          <p:cNvSpPr/>
          <p:nvPr/>
        </p:nvSpPr>
        <p:spPr>
          <a:xfrm>
            <a:off x="822960" y="1965960"/>
            <a:ext cx="7498080" cy="0"/>
          </a:xfrm>
          <a:prstGeom prst="line">
            <a:avLst/>
          </a:prstGeom>
          <a:noFill/>
          <a:ln w="25400">
            <a:solidFill>
              <a:srgbClr val="8D99AE"/>
            </a:solidFill>
            <a:prstDash val="solid"/>
          </a:ln>
        </p:spPr>
      </p:sp>
      <p:sp>
        <p:nvSpPr>
          <p:cNvPr id="4" name="neurona"/>
          <p:cNvSpPr/>
          <p:nvPr/>
        </p:nvSpPr>
        <p:spPr>
          <a:xfrm>
            <a:off x="1005840" y="173736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02920" y="1234440"/>
            <a:ext cx="146304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mbria" pitchFamily="34" charset="0"/>
                <a:ea typeface="Cambria" pitchFamily="34" charset="-122"/>
                <a:cs typeface="Cambria" pitchFamily="34" charset="-120"/>
              </a:rPr>
              <a:t>1976</a:t>
            </a:r>
            <a:endParaRPr lang="en-US" sz="1800" dirty="0"/>
          </a:p>
        </p:txBody>
      </p:sp>
      <p:sp>
        <p:nvSpPr>
          <p:cNvPr id="6" name="Text 4"/>
          <p:cNvSpPr txBox="1"/>
          <p:nvPr/>
        </p:nvSpPr>
        <p:spPr>
          <a:xfrm>
            <a:off x="502920" y="2377440"/>
            <a:ext cx="1463040" cy="1463040"/>
          </a:xfrm>
          <a:prstGeom prst="rect">
            <a:avLst/>
          </a:prstGeom>
          <a:noFill/>
          <a:ln/>
        </p:spPr>
        <p:txBody>
          <a:bodyPr wrap="square" lIns="0" tIns="0" rIns="0" bIns="0" rtlCol="0" anchor="t"/>
          <a:lstStyle/>
          <a:p>
            <a:pPr algn="ctr" indent="0" marL="0">
              <a:buNone/>
            </a:pPr>
            <a:r>
              <a:rPr lang="en-US" sz="1400" dirty="0">
                <a:solidFill>
                  <a:schemeClr val="tx1"/>
                </a:solidFill>
              </a:rPr>
              <a:t>Grossberg propone la Teoría de Resonancia Adaptativa (ART)</a:t>
            </a:r>
            <a:endParaRPr lang="en-US" sz="1400" dirty="0"/>
          </a:p>
        </p:txBody>
      </p:sp>
      <p:sp>
        <p:nvSpPr>
          <p:cNvPr id="7" name="neurona"/>
          <p:cNvSpPr/>
          <p:nvPr/>
        </p:nvSpPr>
        <p:spPr>
          <a:xfrm>
            <a:off x="2670048" y="1737360"/>
            <a:ext cx="457200" cy="457200"/>
          </a:xfrm>
          <a:prstGeom prst="ellipse">
            <a:avLst/>
          </a:prstGeom>
          <a:solidFill>
            <a:schemeClr val="accent2"/>
          </a:solidFill>
          <a:ln w="12700">
            <a:solidFill>
              <a:schemeClr val="accent2"/>
            </a:solidFill>
            <a:prstDash val="solid"/>
          </a:ln>
        </p:spPr>
      </p:sp>
      <p:sp>
        <p:nvSpPr>
          <p:cNvPr id="8" name="Text 6"/>
          <p:cNvSpPr txBox="1"/>
          <p:nvPr/>
        </p:nvSpPr>
        <p:spPr>
          <a:xfrm>
            <a:off x="2167128" y="1234440"/>
            <a:ext cx="146304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mbria" pitchFamily="34" charset="0"/>
                <a:ea typeface="Cambria" pitchFamily="34" charset="-122"/>
                <a:cs typeface="Cambria" pitchFamily="34" charset="-120"/>
              </a:rPr>
              <a:t>1987</a:t>
            </a:r>
            <a:endParaRPr lang="en-US" sz="1800" dirty="0"/>
          </a:p>
        </p:txBody>
      </p:sp>
      <p:sp>
        <p:nvSpPr>
          <p:cNvPr id="9" name="Text 7"/>
          <p:cNvSpPr txBox="1"/>
          <p:nvPr/>
        </p:nvSpPr>
        <p:spPr>
          <a:xfrm>
            <a:off x="2167128" y="2377440"/>
            <a:ext cx="1463040" cy="1463040"/>
          </a:xfrm>
          <a:prstGeom prst="rect">
            <a:avLst/>
          </a:prstGeom>
          <a:noFill/>
          <a:ln/>
        </p:spPr>
        <p:txBody>
          <a:bodyPr wrap="square" lIns="0" tIns="0" rIns="0" bIns="0" rtlCol="0" anchor="t"/>
          <a:lstStyle/>
          <a:p>
            <a:pPr algn="ctr" indent="0" marL="0">
              <a:buNone/>
            </a:pPr>
            <a:r>
              <a:rPr lang="en-US" sz="1400" dirty="0">
                <a:solidFill>
                  <a:schemeClr val="tx1"/>
                </a:solidFill>
              </a:rPr>
              <a:t>Carpenter y Grossberg publican ART-1, para entradas binarias</a:t>
            </a:r>
            <a:endParaRPr lang="en-US" sz="1400" dirty="0"/>
          </a:p>
        </p:txBody>
      </p:sp>
      <p:sp>
        <p:nvSpPr>
          <p:cNvPr id="10" name="neurona"/>
          <p:cNvSpPr/>
          <p:nvPr/>
        </p:nvSpPr>
        <p:spPr>
          <a:xfrm>
            <a:off x="4334256" y="1737360"/>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3831336" y="1234440"/>
            <a:ext cx="146304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mbria" pitchFamily="34" charset="0"/>
                <a:ea typeface="Cambria" pitchFamily="34" charset="-122"/>
                <a:cs typeface="Cambria" pitchFamily="34" charset="-120"/>
              </a:rPr>
              <a:t>1987</a:t>
            </a:r>
            <a:endParaRPr lang="en-US" sz="1800" dirty="0"/>
          </a:p>
        </p:txBody>
      </p:sp>
      <p:sp>
        <p:nvSpPr>
          <p:cNvPr id="12" name="Text 10"/>
          <p:cNvSpPr txBox="1"/>
          <p:nvPr/>
        </p:nvSpPr>
        <p:spPr>
          <a:xfrm>
            <a:off x="3831336" y="2377440"/>
            <a:ext cx="1463040" cy="1463040"/>
          </a:xfrm>
          <a:prstGeom prst="rect">
            <a:avLst/>
          </a:prstGeom>
          <a:noFill/>
          <a:ln/>
        </p:spPr>
        <p:txBody>
          <a:bodyPr wrap="square" lIns="0" tIns="0" rIns="0" bIns="0" rtlCol="0" anchor="t"/>
          <a:lstStyle/>
          <a:p>
            <a:pPr algn="ctr" indent="0" marL="0">
              <a:buNone/>
            </a:pPr>
            <a:r>
              <a:rPr lang="en-US" sz="1400" dirty="0">
                <a:solidFill>
                  <a:schemeClr val="tx1"/>
                </a:solidFill>
              </a:rPr>
              <a:t>Lippmann la presenta como el clasificador del algoritmo del líder</a:t>
            </a:r>
            <a:endParaRPr lang="en-US" sz="1400" dirty="0"/>
          </a:p>
        </p:txBody>
      </p:sp>
      <p:sp>
        <p:nvSpPr>
          <p:cNvPr id="13" name="neurona"/>
          <p:cNvSpPr/>
          <p:nvPr/>
        </p:nvSpPr>
        <p:spPr>
          <a:xfrm>
            <a:off x="5998464" y="1737360"/>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5495544" y="1234440"/>
            <a:ext cx="146304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mbria" pitchFamily="34" charset="0"/>
                <a:ea typeface="Cambria" pitchFamily="34" charset="-122"/>
                <a:cs typeface="Cambria" pitchFamily="34" charset="-120"/>
              </a:rPr>
              <a:t>1987</a:t>
            </a:r>
            <a:endParaRPr lang="en-US" sz="1800" dirty="0"/>
          </a:p>
        </p:txBody>
      </p:sp>
      <p:sp>
        <p:nvSpPr>
          <p:cNvPr id="15" name="Text 13"/>
          <p:cNvSpPr txBox="1"/>
          <p:nvPr/>
        </p:nvSpPr>
        <p:spPr>
          <a:xfrm>
            <a:off x="5495544" y="2377440"/>
            <a:ext cx="1463040" cy="1463040"/>
          </a:xfrm>
          <a:prstGeom prst="rect">
            <a:avLst/>
          </a:prstGeom>
          <a:noFill/>
          <a:ln/>
        </p:spPr>
        <p:txBody>
          <a:bodyPr wrap="square" lIns="0" tIns="0" rIns="0" bIns="0" rtlCol="0" anchor="t"/>
          <a:lstStyle/>
          <a:p>
            <a:pPr algn="ctr" indent="0" marL="0">
              <a:buNone/>
            </a:pPr>
            <a:r>
              <a:rPr lang="en-US" sz="1400" dirty="0">
                <a:solidFill>
                  <a:schemeClr val="tx1"/>
                </a:solidFill>
              </a:rPr>
              <a:t>ART-2 extiende la idea a entradas continuas</a:t>
            </a:r>
            <a:endParaRPr lang="en-US" sz="1400" dirty="0"/>
          </a:p>
        </p:txBody>
      </p:sp>
      <p:sp>
        <p:nvSpPr>
          <p:cNvPr id="16" name="neurona"/>
          <p:cNvSpPr/>
          <p:nvPr/>
        </p:nvSpPr>
        <p:spPr>
          <a:xfrm>
            <a:off x="7662672" y="1737360"/>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7159752" y="1234440"/>
            <a:ext cx="1463040"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mbria" pitchFamily="34" charset="0"/>
                <a:ea typeface="Cambria" pitchFamily="34" charset="-122"/>
                <a:cs typeface="Cambria" pitchFamily="34" charset="-120"/>
              </a:rPr>
              <a:t>1991</a:t>
            </a:r>
            <a:endParaRPr lang="en-US" sz="1800" dirty="0"/>
          </a:p>
        </p:txBody>
      </p:sp>
      <p:sp>
        <p:nvSpPr>
          <p:cNvPr id="18" name="Text 16"/>
          <p:cNvSpPr txBox="1"/>
          <p:nvPr/>
        </p:nvSpPr>
        <p:spPr>
          <a:xfrm>
            <a:off x="7159752" y="2377440"/>
            <a:ext cx="1463040" cy="1463040"/>
          </a:xfrm>
          <a:prstGeom prst="rect">
            <a:avLst/>
          </a:prstGeom>
          <a:noFill/>
          <a:ln/>
        </p:spPr>
        <p:txBody>
          <a:bodyPr wrap="square" lIns="0" tIns="0" rIns="0" bIns="0" rtlCol="0" anchor="t"/>
          <a:lstStyle/>
          <a:p>
            <a:pPr algn="ctr" indent="0" marL="0">
              <a:buNone/>
            </a:pPr>
            <a:r>
              <a:rPr lang="en-US" sz="1400" dirty="0">
                <a:solidFill>
                  <a:schemeClr val="tx1"/>
                </a:solidFill>
              </a:rPr>
              <a:t>Fuzzy ART y ARTMAP: lógica difusa y versión supervisada</a:t>
            </a:r>
            <a:endParaRPr lang="en-US" sz="1400" dirty="0"/>
          </a:p>
        </p:txBody>
      </p:sp>
      <p:sp>
        <p:nvSpPr>
          <p:cNvPr id="19" name="Text 17"/>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400" i="1" dirty="0">
                <a:solidFill>
                  <a:schemeClr val="accent5"/>
                </a:solidFill>
              </a:rPr>
              <a:t>Gail Carpenter y Stephen Grossberg, Universidad de Boston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Arquitectura: dos capas que dialogan</a:t>
            </a:r>
            <a:endParaRPr lang="en-US" sz="3000" dirty="0"/>
          </a:p>
        </p:txBody>
      </p:sp>
      <p:sp>
        <p:nvSpPr>
          <p:cNvPr id="3" name="Shape 1"/>
          <p:cNvSpPr/>
          <p:nvPr/>
        </p:nvSpPr>
        <p:spPr>
          <a:xfrm>
            <a:off x="457200" y="1188720"/>
            <a:ext cx="4206240" cy="3291840"/>
          </a:xfrm>
          <a:prstGeom prst="roundRect">
            <a:avLst>
              <a:gd name="adj" fmla="val 3333"/>
            </a:avLst>
          </a:prstGeom>
          <a:solidFill>
            <a:schemeClr val="bg2"/>
          </a:solidFill>
          <a:ln w="12700">
            <a:solidFill>
              <a:schemeClr val="bg2"/>
            </a:solidFill>
            <a:prstDash val="solid"/>
          </a:ln>
        </p:spPr>
      </p:sp>
      <p:sp>
        <p:nvSpPr>
          <p:cNvPr id="4" name="Shape 2"/>
          <p:cNvSpPr/>
          <p:nvPr/>
        </p:nvSpPr>
        <p:spPr>
          <a:xfrm flipH="1">
            <a:off x="1097280" y="2011680"/>
            <a:ext cx="411480" cy="1508760"/>
          </a:xfrm>
          <a:prstGeom prst="line">
            <a:avLst/>
          </a:prstGeom>
          <a:noFill/>
          <a:ln w="9525">
            <a:solidFill>
              <a:srgbClr val="8D99AE"/>
            </a:solidFill>
            <a:prstDash val="solid"/>
          </a:ln>
        </p:spPr>
      </p:sp>
      <p:sp>
        <p:nvSpPr>
          <p:cNvPr id="5" name="Shape 3"/>
          <p:cNvSpPr/>
          <p:nvPr/>
        </p:nvSpPr>
        <p:spPr>
          <a:xfrm flipH="1">
            <a:off x="1097280" y="2011680"/>
            <a:ext cx="1463040" cy="1508760"/>
          </a:xfrm>
          <a:prstGeom prst="line">
            <a:avLst/>
          </a:prstGeom>
          <a:noFill/>
          <a:ln w="9525">
            <a:solidFill>
              <a:srgbClr val="8D99AE"/>
            </a:solidFill>
            <a:prstDash val="solid"/>
          </a:ln>
        </p:spPr>
      </p:sp>
      <p:sp>
        <p:nvSpPr>
          <p:cNvPr id="6" name="Shape 4"/>
          <p:cNvSpPr/>
          <p:nvPr/>
        </p:nvSpPr>
        <p:spPr>
          <a:xfrm flipH="1">
            <a:off x="1097280" y="2011680"/>
            <a:ext cx="2514600" cy="1508760"/>
          </a:xfrm>
          <a:prstGeom prst="line">
            <a:avLst/>
          </a:prstGeom>
          <a:noFill/>
          <a:ln w="9525">
            <a:solidFill>
              <a:srgbClr val="8D99AE"/>
            </a:solidFill>
            <a:prstDash val="solid"/>
          </a:ln>
        </p:spPr>
      </p:sp>
      <p:sp>
        <p:nvSpPr>
          <p:cNvPr id="7" name="Shape 5"/>
          <p:cNvSpPr/>
          <p:nvPr/>
        </p:nvSpPr>
        <p:spPr>
          <a:xfrm>
            <a:off x="1508760" y="2011680"/>
            <a:ext cx="502920" cy="1508760"/>
          </a:xfrm>
          <a:prstGeom prst="line">
            <a:avLst/>
          </a:prstGeom>
          <a:noFill/>
          <a:ln w="9525">
            <a:solidFill>
              <a:srgbClr val="8D99AE"/>
            </a:solidFill>
            <a:prstDash val="solid"/>
          </a:ln>
        </p:spPr>
      </p:sp>
      <p:sp>
        <p:nvSpPr>
          <p:cNvPr id="8" name="Shape 6"/>
          <p:cNvSpPr/>
          <p:nvPr/>
        </p:nvSpPr>
        <p:spPr>
          <a:xfrm flipH="1">
            <a:off x="2011680" y="2011680"/>
            <a:ext cx="548640" cy="1508760"/>
          </a:xfrm>
          <a:prstGeom prst="line">
            <a:avLst/>
          </a:prstGeom>
          <a:noFill/>
          <a:ln w="9525">
            <a:solidFill>
              <a:srgbClr val="8D99AE"/>
            </a:solidFill>
            <a:prstDash val="solid"/>
          </a:ln>
        </p:spPr>
      </p:sp>
      <p:sp>
        <p:nvSpPr>
          <p:cNvPr id="9" name="Shape 7"/>
          <p:cNvSpPr/>
          <p:nvPr/>
        </p:nvSpPr>
        <p:spPr>
          <a:xfrm flipH="1">
            <a:off x="2011680" y="2011680"/>
            <a:ext cx="1600200" cy="1508760"/>
          </a:xfrm>
          <a:prstGeom prst="line">
            <a:avLst/>
          </a:prstGeom>
          <a:noFill/>
          <a:ln w="9525">
            <a:solidFill>
              <a:srgbClr val="8D99AE"/>
            </a:solidFill>
            <a:prstDash val="solid"/>
          </a:ln>
        </p:spPr>
      </p:sp>
      <p:sp>
        <p:nvSpPr>
          <p:cNvPr id="10" name="Shape 8"/>
          <p:cNvSpPr/>
          <p:nvPr/>
        </p:nvSpPr>
        <p:spPr>
          <a:xfrm>
            <a:off x="1508760" y="2011680"/>
            <a:ext cx="1417320" cy="1508760"/>
          </a:xfrm>
          <a:prstGeom prst="line">
            <a:avLst/>
          </a:prstGeom>
          <a:noFill/>
          <a:ln w="9525">
            <a:solidFill>
              <a:srgbClr val="8D99AE"/>
            </a:solidFill>
            <a:prstDash val="solid"/>
          </a:ln>
        </p:spPr>
      </p:sp>
      <p:sp>
        <p:nvSpPr>
          <p:cNvPr id="11" name="Shape 9"/>
          <p:cNvSpPr/>
          <p:nvPr/>
        </p:nvSpPr>
        <p:spPr>
          <a:xfrm>
            <a:off x="2560320" y="2011680"/>
            <a:ext cx="365760" cy="1508760"/>
          </a:xfrm>
          <a:prstGeom prst="line">
            <a:avLst/>
          </a:prstGeom>
          <a:noFill/>
          <a:ln w="9525">
            <a:solidFill>
              <a:srgbClr val="8D99AE"/>
            </a:solidFill>
            <a:prstDash val="solid"/>
          </a:ln>
        </p:spPr>
      </p:sp>
      <p:sp>
        <p:nvSpPr>
          <p:cNvPr id="12" name="Shape 10"/>
          <p:cNvSpPr/>
          <p:nvPr/>
        </p:nvSpPr>
        <p:spPr>
          <a:xfrm flipH="1">
            <a:off x="2926080" y="2011680"/>
            <a:ext cx="685800" cy="1508760"/>
          </a:xfrm>
          <a:prstGeom prst="line">
            <a:avLst/>
          </a:prstGeom>
          <a:noFill/>
          <a:ln w="9525">
            <a:solidFill>
              <a:srgbClr val="8D99AE"/>
            </a:solidFill>
            <a:prstDash val="solid"/>
          </a:ln>
        </p:spPr>
      </p:sp>
      <p:sp>
        <p:nvSpPr>
          <p:cNvPr id="13" name="Shape 11"/>
          <p:cNvSpPr/>
          <p:nvPr/>
        </p:nvSpPr>
        <p:spPr>
          <a:xfrm>
            <a:off x="1508760" y="2011680"/>
            <a:ext cx="2331720" cy="1508760"/>
          </a:xfrm>
          <a:prstGeom prst="line">
            <a:avLst/>
          </a:prstGeom>
          <a:noFill/>
          <a:ln w="9525">
            <a:solidFill>
              <a:srgbClr val="8D99AE"/>
            </a:solidFill>
            <a:prstDash val="solid"/>
          </a:ln>
        </p:spPr>
      </p:sp>
      <p:sp>
        <p:nvSpPr>
          <p:cNvPr id="14" name="Shape 12"/>
          <p:cNvSpPr/>
          <p:nvPr/>
        </p:nvSpPr>
        <p:spPr>
          <a:xfrm>
            <a:off x="2560320" y="2011680"/>
            <a:ext cx="1280160" cy="1508760"/>
          </a:xfrm>
          <a:prstGeom prst="line">
            <a:avLst/>
          </a:prstGeom>
          <a:noFill/>
          <a:ln w="9525">
            <a:solidFill>
              <a:srgbClr val="8D99AE"/>
            </a:solidFill>
            <a:prstDash val="solid"/>
          </a:ln>
        </p:spPr>
      </p:sp>
      <p:sp>
        <p:nvSpPr>
          <p:cNvPr id="15" name="Shape 13"/>
          <p:cNvSpPr/>
          <p:nvPr/>
        </p:nvSpPr>
        <p:spPr>
          <a:xfrm>
            <a:off x="3611880" y="2011680"/>
            <a:ext cx="228600" cy="1508760"/>
          </a:xfrm>
          <a:prstGeom prst="line">
            <a:avLst/>
          </a:prstGeom>
          <a:noFill/>
          <a:ln w="9525">
            <a:solidFill>
              <a:srgbClr val="8D99AE"/>
            </a:solidFill>
            <a:prstDash val="solid"/>
          </a:ln>
        </p:spPr>
      </p:sp>
      <p:sp>
        <p:nvSpPr>
          <p:cNvPr id="16" name="neurona"/>
          <p:cNvSpPr/>
          <p:nvPr/>
        </p:nvSpPr>
        <p:spPr>
          <a:xfrm>
            <a:off x="1280160" y="1554480"/>
            <a:ext cx="457200" cy="457200"/>
          </a:xfrm>
          <a:prstGeom prst="ellipse">
            <a:avLst/>
          </a:prstGeom>
          <a:solidFill>
            <a:schemeClr val="accent2"/>
          </a:solidFill>
          <a:ln w="12700">
            <a:solidFill>
              <a:schemeClr val="accent2"/>
            </a:solidFill>
            <a:prstDash val="solid"/>
          </a:ln>
        </p:spPr>
      </p:sp>
      <p:sp>
        <p:nvSpPr>
          <p:cNvPr id="17" name="neurona"/>
          <p:cNvSpPr/>
          <p:nvPr/>
        </p:nvSpPr>
        <p:spPr>
          <a:xfrm>
            <a:off x="2331720" y="1554480"/>
            <a:ext cx="457200" cy="457200"/>
          </a:xfrm>
          <a:prstGeom prst="ellipse">
            <a:avLst/>
          </a:prstGeom>
          <a:solidFill>
            <a:schemeClr val="accent2"/>
          </a:solidFill>
          <a:ln w="12700">
            <a:solidFill>
              <a:schemeClr val="accent2"/>
            </a:solidFill>
            <a:prstDash val="solid"/>
          </a:ln>
        </p:spPr>
      </p:sp>
      <p:sp>
        <p:nvSpPr>
          <p:cNvPr id="18" name="neurona"/>
          <p:cNvSpPr/>
          <p:nvPr/>
        </p:nvSpPr>
        <p:spPr>
          <a:xfrm>
            <a:off x="3383280" y="1554480"/>
            <a:ext cx="457200" cy="457200"/>
          </a:xfrm>
          <a:prstGeom prst="ellipse">
            <a:avLst/>
          </a:prstGeom>
          <a:solidFill>
            <a:schemeClr val="accent2"/>
          </a:solidFill>
          <a:ln w="12700">
            <a:solidFill>
              <a:schemeClr val="accent2"/>
            </a:solidFill>
            <a:prstDash val="solid"/>
          </a:ln>
        </p:spPr>
      </p:sp>
      <p:sp>
        <p:nvSpPr>
          <p:cNvPr id="19" name="neurona"/>
          <p:cNvSpPr/>
          <p:nvPr/>
        </p:nvSpPr>
        <p:spPr>
          <a:xfrm>
            <a:off x="868680" y="3520440"/>
            <a:ext cx="457200" cy="457200"/>
          </a:xfrm>
          <a:prstGeom prst="ellipse">
            <a:avLst/>
          </a:prstGeom>
          <a:solidFill>
            <a:schemeClr val="accent1"/>
          </a:solidFill>
          <a:ln w="12700">
            <a:solidFill>
              <a:schemeClr val="accent1"/>
            </a:solidFill>
            <a:prstDash val="solid"/>
          </a:ln>
        </p:spPr>
      </p:sp>
      <p:sp>
        <p:nvSpPr>
          <p:cNvPr id="20" name="neurona"/>
          <p:cNvSpPr/>
          <p:nvPr/>
        </p:nvSpPr>
        <p:spPr>
          <a:xfrm>
            <a:off x="1783080" y="3520440"/>
            <a:ext cx="457200" cy="457200"/>
          </a:xfrm>
          <a:prstGeom prst="ellipse">
            <a:avLst/>
          </a:prstGeom>
          <a:solidFill>
            <a:schemeClr val="accent1"/>
          </a:solidFill>
          <a:ln w="12700">
            <a:solidFill>
              <a:schemeClr val="accent1"/>
            </a:solidFill>
            <a:prstDash val="solid"/>
          </a:ln>
        </p:spPr>
      </p:sp>
      <p:sp>
        <p:nvSpPr>
          <p:cNvPr id="21" name="neurona"/>
          <p:cNvSpPr/>
          <p:nvPr/>
        </p:nvSpPr>
        <p:spPr>
          <a:xfrm>
            <a:off x="2697480" y="3520440"/>
            <a:ext cx="457200" cy="457200"/>
          </a:xfrm>
          <a:prstGeom prst="ellipse">
            <a:avLst/>
          </a:prstGeom>
          <a:solidFill>
            <a:schemeClr val="accent1"/>
          </a:solidFill>
          <a:ln w="12700">
            <a:solidFill>
              <a:schemeClr val="accent1"/>
            </a:solidFill>
            <a:prstDash val="solid"/>
          </a:ln>
        </p:spPr>
      </p:sp>
      <p:sp>
        <p:nvSpPr>
          <p:cNvPr id="22" name="neurona"/>
          <p:cNvSpPr/>
          <p:nvPr/>
        </p:nvSpPr>
        <p:spPr>
          <a:xfrm>
            <a:off x="3611880" y="3520440"/>
            <a:ext cx="457200" cy="457200"/>
          </a:xfrm>
          <a:prstGeom prst="ellipse">
            <a:avLst/>
          </a:prstGeom>
          <a:solidFill>
            <a:schemeClr val="accent1"/>
          </a:solidFill>
          <a:ln w="12700">
            <a:solidFill>
              <a:schemeClr val="accent1"/>
            </a:solidFill>
            <a:prstDash val="solid"/>
          </a:ln>
        </p:spPr>
      </p:sp>
      <p:sp>
        <p:nvSpPr>
          <p:cNvPr id="23" name="Text 21"/>
          <p:cNvSpPr txBox="1"/>
          <p:nvPr/>
        </p:nvSpPr>
        <p:spPr>
          <a:xfrm>
            <a:off x="640080" y="1280160"/>
            <a:ext cx="3840480" cy="274320"/>
          </a:xfrm>
          <a:prstGeom prst="rect">
            <a:avLst/>
          </a:prstGeom>
          <a:noFill/>
          <a:ln/>
        </p:spPr>
        <p:txBody>
          <a:bodyPr wrap="square" lIns="0" tIns="0" rIns="0" bIns="0" rtlCol="0" anchor="t"/>
          <a:lstStyle/>
          <a:p>
            <a:pPr algn="ctr" indent="0" marL="0">
              <a:buNone/>
            </a:pPr>
            <a:r>
              <a:rPr lang="en-US" sz="1400" b="1" dirty="0">
                <a:solidFill>
                  <a:schemeClr val="tx1"/>
                </a:solidFill>
              </a:rPr>
              <a:t>F2: una neurona por categoría</a:t>
            </a:r>
            <a:endParaRPr lang="en-US" sz="1400" dirty="0"/>
          </a:p>
        </p:txBody>
      </p:sp>
      <p:sp>
        <p:nvSpPr>
          <p:cNvPr id="24" name="Text 22"/>
          <p:cNvSpPr txBox="1"/>
          <p:nvPr/>
        </p:nvSpPr>
        <p:spPr>
          <a:xfrm>
            <a:off x="640080" y="4069080"/>
            <a:ext cx="3840480" cy="274320"/>
          </a:xfrm>
          <a:prstGeom prst="rect">
            <a:avLst/>
          </a:prstGeom>
          <a:noFill/>
          <a:ln/>
        </p:spPr>
        <p:txBody>
          <a:bodyPr wrap="square" lIns="0" tIns="0" rIns="0" bIns="0" rtlCol="0" anchor="t"/>
          <a:lstStyle/>
          <a:p>
            <a:pPr algn="ctr" indent="0" marL="0">
              <a:buNone/>
            </a:pPr>
            <a:r>
              <a:rPr lang="en-US" sz="1400" b="1" dirty="0">
                <a:solidFill>
                  <a:schemeClr val="tx1"/>
                </a:solidFill>
              </a:rPr>
              <a:t>F1: una neurona por variable de entrada</a:t>
            </a:r>
            <a:endParaRPr lang="en-US" sz="1400" dirty="0"/>
          </a:p>
        </p:txBody>
      </p:sp>
      <p:sp>
        <p:nvSpPr>
          <p:cNvPr id="25" name="Text 23"/>
          <p:cNvSpPr txBox="1"/>
          <p:nvPr/>
        </p:nvSpPr>
        <p:spPr>
          <a:xfrm>
            <a:off x="5029200" y="1234440"/>
            <a:ext cx="3657600" cy="960120"/>
          </a:xfrm>
          <a:prstGeom prst="rect">
            <a:avLst/>
          </a:prstGeom>
          <a:noFill/>
          <a:ln/>
        </p:spPr>
        <p:txBody>
          <a:bodyPr wrap="square" lIns="0" tIns="0" rIns="0" bIns="0" rtlCol="0" anchor="t"/>
          <a:lstStyle/>
          <a:p>
            <a:pPr indent="0" marL="0">
              <a:buNone/>
            </a:pPr>
            <a:r>
              <a:rPr lang="en-US" sz="1700" b="1" dirty="0">
                <a:solidFill>
                  <a:schemeClr val="accent1"/>
                </a:solidFill>
              </a:rPr>
              <a:t>Pesos ascendentes b</a:t>
            </a:r>
            <a:endParaRPr lang="en-US" sz="1500" dirty="0"/>
          </a:p>
          <a:p>
            <a:pPr indent="0" marL="0">
              <a:buNone/>
            </a:pPr>
            <a:r>
              <a:rPr lang="en-US" sz="1500" dirty="0">
                <a:solidFill>
                  <a:schemeClr val="tx1"/>
                </a:solidFill>
              </a:rPr>
              <a:t>Miden cuánto se parece la entrada a cada categoría y eligen una ganadora.</a:t>
            </a:r>
            <a:endParaRPr lang="en-US" sz="1500" dirty="0"/>
          </a:p>
        </p:txBody>
      </p:sp>
      <p:sp>
        <p:nvSpPr>
          <p:cNvPr id="26" name="Text 24"/>
          <p:cNvSpPr txBox="1"/>
          <p:nvPr/>
        </p:nvSpPr>
        <p:spPr>
          <a:xfrm>
            <a:off x="5029200" y="2331720"/>
            <a:ext cx="3657600" cy="960120"/>
          </a:xfrm>
          <a:prstGeom prst="rect">
            <a:avLst/>
          </a:prstGeom>
          <a:noFill/>
          <a:ln/>
        </p:spPr>
        <p:txBody>
          <a:bodyPr wrap="square" lIns="0" tIns="0" rIns="0" bIns="0" rtlCol="0" anchor="t"/>
          <a:lstStyle/>
          <a:p>
            <a:pPr indent="0" marL="0">
              <a:buNone/>
            </a:pPr>
            <a:r>
              <a:rPr lang="en-US" sz="1700" b="1" dirty="0">
                <a:solidFill>
                  <a:schemeClr val="accent1"/>
                </a:solidFill>
              </a:rPr>
              <a:t>Pesos descendentes t</a:t>
            </a:r>
            <a:endParaRPr lang="en-US" sz="1500" dirty="0"/>
          </a:p>
          <a:p>
            <a:pPr indent="0" marL="0">
              <a:buNone/>
            </a:pPr>
            <a:r>
              <a:rPr lang="en-US" sz="1500" dirty="0">
                <a:solidFill>
                  <a:schemeClr val="tx1"/>
                </a:solidFill>
              </a:rPr>
              <a:t>Guardan el prototipo de cada categoría y lo devuelven a F1 para compararlo.</a:t>
            </a:r>
            <a:endParaRPr lang="en-US" sz="1500" dirty="0"/>
          </a:p>
        </p:txBody>
      </p:sp>
      <p:sp>
        <p:nvSpPr>
          <p:cNvPr id="27" name="Text 25"/>
          <p:cNvSpPr txBox="1"/>
          <p:nvPr/>
        </p:nvSpPr>
        <p:spPr>
          <a:xfrm>
            <a:off x="5029200" y="3429000"/>
            <a:ext cx="3657600" cy="960120"/>
          </a:xfrm>
          <a:prstGeom prst="rect">
            <a:avLst/>
          </a:prstGeom>
          <a:noFill/>
          <a:ln/>
        </p:spPr>
        <p:txBody>
          <a:bodyPr wrap="square" lIns="0" tIns="0" rIns="0" bIns="0" rtlCol="0" anchor="t"/>
          <a:lstStyle/>
          <a:p>
            <a:pPr indent="0" marL="0">
              <a:buNone/>
            </a:pPr>
            <a:r>
              <a:rPr lang="en-US" sz="1700" b="1" dirty="0">
                <a:solidFill>
                  <a:schemeClr val="accent1"/>
                </a:solidFill>
              </a:rPr>
              <a:t>Vigilancia ρ y reset</a:t>
            </a:r>
            <a:endParaRPr lang="en-US" sz="1500" dirty="0"/>
          </a:p>
          <a:p>
            <a:pPr indent="0" marL="0">
              <a:buNone/>
            </a:pPr>
            <a:r>
              <a:rPr lang="en-US" sz="1500" dirty="0">
                <a:solidFill>
                  <a:schemeClr val="tx1"/>
                </a:solidFill>
              </a:rPr>
              <a:t>Si la coincidencia no alcanza ρ, se descarta la ganadora y se busca otra.</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El algoritmo, paso a paso</a:t>
            </a:r>
            <a:endParaRPr lang="en-US" sz="3000" dirty="0"/>
          </a:p>
        </p:txBody>
      </p:sp>
      <p:sp>
        <p:nvSpPr>
          <p:cNvPr id="3" name="Shape 1"/>
          <p:cNvSpPr/>
          <p:nvPr/>
        </p:nvSpPr>
        <p:spPr>
          <a:xfrm>
            <a:off x="457200" y="1234440"/>
            <a:ext cx="1517904" cy="3108960"/>
          </a:xfrm>
          <a:prstGeom prst="roundRect">
            <a:avLst>
              <a:gd name="adj" fmla="val 7229"/>
            </a:avLst>
          </a:prstGeom>
          <a:solidFill>
            <a:schemeClr val="bg2"/>
          </a:solidFill>
          <a:ln w="12700">
            <a:solidFill>
              <a:schemeClr val="bg2"/>
            </a:solidFill>
            <a:prstDash val="solid"/>
          </a:ln>
        </p:spPr>
      </p:sp>
      <p:sp>
        <p:nvSpPr>
          <p:cNvPr id="4" name="neurona"/>
          <p:cNvSpPr/>
          <p:nvPr/>
        </p:nvSpPr>
        <p:spPr>
          <a:xfrm>
            <a:off x="941832" y="141732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941832"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548640" y="2103120"/>
            <a:ext cx="1335024" cy="365760"/>
          </a:xfrm>
          <a:prstGeom prst="rect">
            <a:avLst/>
          </a:prstGeom>
          <a:noFill/>
          <a:ln/>
        </p:spPr>
        <p:txBody>
          <a:bodyPr wrap="square" lIns="0" tIns="0" rIns="0" bIns="0" rtlCol="0" anchor="t"/>
          <a:lstStyle/>
          <a:p>
            <a:pPr algn="ctr" indent="0" marL="0">
              <a:buNone/>
            </a:pPr>
            <a:r>
              <a:rPr lang="en-US" sz="1700" b="1" dirty="0">
                <a:solidFill>
                  <a:schemeClr val="tx1"/>
                </a:solidFill>
              </a:rPr>
              <a:t>Presentar</a:t>
            </a:r>
            <a:endParaRPr lang="en-US" sz="1700" dirty="0"/>
          </a:p>
        </p:txBody>
      </p:sp>
      <p:sp>
        <p:nvSpPr>
          <p:cNvPr id="7" name="Text 5"/>
          <p:cNvSpPr txBox="1"/>
          <p:nvPr/>
        </p:nvSpPr>
        <p:spPr>
          <a:xfrm>
            <a:off x="566928" y="2514600"/>
            <a:ext cx="1298448" cy="1737360"/>
          </a:xfrm>
          <a:prstGeom prst="rect">
            <a:avLst/>
          </a:prstGeom>
          <a:noFill/>
          <a:ln/>
        </p:spPr>
        <p:txBody>
          <a:bodyPr wrap="square" lIns="0" tIns="0" rIns="0" bIns="0" rtlCol="0" anchor="t"/>
          <a:lstStyle/>
          <a:p>
            <a:pPr algn="ctr" indent="0" marL="0">
              <a:buNone/>
            </a:pPr>
            <a:r>
              <a:rPr lang="en-US" sz="1400" dirty="0">
                <a:solidFill>
                  <a:schemeClr val="tx1"/>
                </a:solidFill>
              </a:rPr>
              <a:t>Llega un patrón X de ceros y unos.</a:t>
            </a:r>
            <a:endParaRPr lang="en-US" sz="1400" dirty="0"/>
          </a:p>
        </p:txBody>
      </p:sp>
      <p:sp>
        <p:nvSpPr>
          <p:cNvPr id="8" name="Shape 6"/>
          <p:cNvSpPr/>
          <p:nvPr/>
        </p:nvSpPr>
        <p:spPr>
          <a:xfrm>
            <a:off x="2139696" y="1234440"/>
            <a:ext cx="1517904" cy="3108960"/>
          </a:xfrm>
          <a:prstGeom prst="roundRect">
            <a:avLst>
              <a:gd name="adj" fmla="val 7229"/>
            </a:avLst>
          </a:prstGeom>
          <a:solidFill>
            <a:schemeClr val="bg2"/>
          </a:solidFill>
          <a:ln w="12700">
            <a:solidFill>
              <a:schemeClr val="bg2"/>
            </a:solidFill>
            <a:prstDash val="solid"/>
          </a:ln>
        </p:spPr>
      </p:sp>
      <p:sp>
        <p:nvSpPr>
          <p:cNvPr id="9" name="neurona"/>
          <p:cNvSpPr/>
          <p:nvPr/>
        </p:nvSpPr>
        <p:spPr>
          <a:xfrm>
            <a:off x="2624328" y="141732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2624328"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2231136" y="2103120"/>
            <a:ext cx="1335024" cy="365760"/>
          </a:xfrm>
          <a:prstGeom prst="rect">
            <a:avLst/>
          </a:prstGeom>
          <a:noFill/>
          <a:ln/>
        </p:spPr>
        <p:txBody>
          <a:bodyPr wrap="square" lIns="0" tIns="0" rIns="0" bIns="0" rtlCol="0" anchor="t"/>
          <a:lstStyle/>
          <a:p>
            <a:pPr algn="ctr" indent="0" marL="0">
              <a:buNone/>
            </a:pPr>
            <a:r>
              <a:rPr lang="en-US" sz="1700" b="1" dirty="0">
                <a:solidFill>
                  <a:schemeClr val="tx1"/>
                </a:solidFill>
              </a:rPr>
              <a:t>Competir</a:t>
            </a:r>
            <a:endParaRPr lang="en-US" sz="1700" dirty="0"/>
          </a:p>
        </p:txBody>
      </p:sp>
      <p:sp>
        <p:nvSpPr>
          <p:cNvPr id="12" name="Text 10"/>
          <p:cNvSpPr txBox="1"/>
          <p:nvPr/>
        </p:nvSpPr>
        <p:spPr>
          <a:xfrm>
            <a:off x="2249424" y="2514600"/>
            <a:ext cx="1298448" cy="1737360"/>
          </a:xfrm>
          <a:prstGeom prst="rect">
            <a:avLst/>
          </a:prstGeom>
          <a:noFill/>
          <a:ln/>
        </p:spPr>
        <p:txBody>
          <a:bodyPr wrap="square" lIns="0" tIns="0" rIns="0" bIns="0" rtlCol="0" anchor="t"/>
          <a:lstStyle/>
          <a:p>
            <a:pPr algn="ctr" indent="0" marL="0">
              <a:buNone/>
            </a:pPr>
            <a:r>
              <a:rPr lang="en-US" sz="1400" dirty="0">
                <a:solidFill>
                  <a:schemeClr val="tx1"/>
                </a:solidFill>
              </a:rPr>
              <a:t>Gana la categoría con mayor puntaje μ = Σ b·x.</a:t>
            </a:r>
            <a:endParaRPr lang="en-US" sz="1400" dirty="0"/>
          </a:p>
        </p:txBody>
      </p:sp>
      <p:sp>
        <p:nvSpPr>
          <p:cNvPr id="13" name="Shape 11"/>
          <p:cNvSpPr/>
          <p:nvPr/>
        </p:nvSpPr>
        <p:spPr>
          <a:xfrm>
            <a:off x="3822192" y="1234440"/>
            <a:ext cx="1517904" cy="3108960"/>
          </a:xfrm>
          <a:prstGeom prst="roundRect">
            <a:avLst>
              <a:gd name="adj" fmla="val 7229"/>
            </a:avLst>
          </a:prstGeom>
          <a:solidFill>
            <a:schemeClr val="bg2"/>
          </a:solidFill>
          <a:ln w="12700">
            <a:solidFill>
              <a:schemeClr val="bg2"/>
            </a:solidFill>
            <a:prstDash val="solid"/>
          </a:ln>
        </p:spPr>
      </p:sp>
      <p:sp>
        <p:nvSpPr>
          <p:cNvPr id="14" name="neurona"/>
          <p:cNvSpPr/>
          <p:nvPr/>
        </p:nvSpPr>
        <p:spPr>
          <a:xfrm>
            <a:off x="4306824" y="141732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4306824"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4"/>
          <p:cNvSpPr txBox="1"/>
          <p:nvPr/>
        </p:nvSpPr>
        <p:spPr>
          <a:xfrm>
            <a:off x="3913632" y="2103120"/>
            <a:ext cx="1335024" cy="365760"/>
          </a:xfrm>
          <a:prstGeom prst="rect">
            <a:avLst/>
          </a:prstGeom>
          <a:noFill/>
          <a:ln/>
        </p:spPr>
        <p:txBody>
          <a:bodyPr wrap="square" lIns="0" tIns="0" rIns="0" bIns="0" rtlCol="0" anchor="t"/>
          <a:lstStyle/>
          <a:p>
            <a:pPr algn="ctr" indent="0" marL="0">
              <a:buNone/>
            </a:pPr>
            <a:r>
              <a:rPr lang="en-US" sz="1700" b="1" dirty="0">
                <a:solidFill>
                  <a:schemeClr val="tx1"/>
                </a:solidFill>
              </a:rPr>
              <a:t>Comparar</a:t>
            </a:r>
            <a:endParaRPr lang="en-US" sz="1700" dirty="0"/>
          </a:p>
        </p:txBody>
      </p:sp>
      <p:sp>
        <p:nvSpPr>
          <p:cNvPr id="17" name="Text 15"/>
          <p:cNvSpPr txBox="1"/>
          <p:nvPr/>
        </p:nvSpPr>
        <p:spPr>
          <a:xfrm>
            <a:off x="3931920" y="2514600"/>
            <a:ext cx="1298448" cy="1737360"/>
          </a:xfrm>
          <a:prstGeom prst="rect">
            <a:avLst/>
          </a:prstGeom>
          <a:noFill/>
          <a:ln/>
        </p:spPr>
        <p:txBody>
          <a:bodyPr wrap="square" lIns="0" tIns="0" rIns="0" bIns="0" rtlCol="0" anchor="t"/>
          <a:lstStyle/>
          <a:p>
            <a:pPr algn="ctr" indent="0" marL="0">
              <a:buNone/>
            </a:pPr>
            <a:r>
              <a:rPr lang="en-US" sz="1400" dirty="0">
                <a:solidFill>
                  <a:schemeClr val="tx1"/>
                </a:solidFill>
              </a:rPr>
              <a:t>¿Qué fracción de los unos de X está en el prototipo? ¿Supera ρ?</a:t>
            </a:r>
            <a:endParaRPr lang="en-US" sz="1400" dirty="0"/>
          </a:p>
        </p:txBody>
      </p:sp>
      <p:sp>
        <p:nvSpPr>
          <p:cNvPr id="18" name="Shape 16"/>
          <p:cNvSpPr/>
          <p:nvPr/>
        </p:nvSpPr>
        <p:spPr>
          <a:xfrm>
            <a:off x="5504688" y="1234440"/>
            <a:ext cx="1517904" cy="3108960"/>
          </a:xfrm>
          <a:prstGeom prst="roundRect">
            <a:avLst>
              <a:gd name="adj" fmla="val 7229"/>
            </a:avLst>
          </a:prstGeom>
          <a:solidFill>
            <a:srgbClr val="FCEBDD"/>
          </a:solidFill>
          <a:ln w="12700">
            <a:solidFill>
              <a:srgbClr val="FCEBDD"/>
            </a:solidFill>
            <a:prstDash val="solid"/>
          </a:ln>
        </p:spPr>
      </p:sp>
      <p:sp>
        <p:nvSpPr>
          <p:cNvPr id="19" name="neurona"/>
          <p:cNvSpPr/>
          <p:nvPr/>
        </p:nvSpPr>
        <p:spPr>
          <a:xfrm>
            <a:off x="5989320" y="1417320"/>
            <a:ext cx="548640" cy="548640"/>
          </a:xfrm>
          <a:prstGeom prst="ellipse">
            <a:avLst/>
          </a:prstGeom>
          <a:solidFill>
            <a:schemeClr val="accent2"/>
          </a:solidFill>
          <a:ln w="12700">
            <a:solidFill>
              <a:schemeClr val="accent2"/>
            </a:solidFill>
            <a:prstDash val="solid"/>
          </a:ln>
        </p:spPr>
      </p:sp>
      <p:sp>
        <p:nvSpPr>
          <p:cNvPr id="20" name="Text 18"/>
          <p:cNvSpPr txBox="1"/>
          <p:nvPr/>
        </p:nvSpPr>
        <p:spPr>
          <a:xfrm>
            <a:off x="5989320"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9"/>
          <p:cNvSpPr txBox="1"/>
          <p:nvPr/>
        </p:nvSpPr>
        <p:spPr>
          <a:xfrm>
            <a:off x="5596128" y="2103120"/>
            <a:ext cx="1335024" cy="365760"/>
          </a:xfrm>
          <a:prstGeom prst="rect">
            <a:avLst/>
          </a:prstGeom>
          <a:noFill/>
          <a:ln/>
        </p:spPr>
        <p:txBody>
          <a:bodyPr wrap="square" lIns="0" tIns="0" rIns="0" bIns="0" rtlCol="0" anchor="t"/>
          <a:lstStyle/>
          <a:p>
            <a:pPr algn="ctr" indent="0" marL="0">
              <a:buNone/>
            </a:pPr>
            <a:r>
              <a:rPr lang="en-US" sz="1700" b="1" dirty="0">
                <a:solidFill>
                  <a:schemeClr val="tx1"/>
                </a:solidFill>
              </a:rPr>
              <a:t>Resonar</a:t>
            </a:r>
            <a:endParaRPr lang="en-US" sz="1700" dirty="0"/>
          </a:p>
        </p:txBody>
      </p:sp>
      <p:sp>
        <p:nvSpPr>
          <p:cNvPr id="22" name="Text 20"/>
          <p:cNvSpPr txBox="1"/>
          <p:nvPr/>
        </p:nvSpPr>
        <p:spPr>
          <a:xfrm>
            <a:off x="5614416" y="2514600"/>
            <a:ext cx="1298448" cy="1737360"/>
          </a:xfrm>
          <a:prstGeom prst="rect">
            <a:avLst/>
          </a:prstGeom>
          <a:noFill/>
          <a:ln/>
        </p:spPr>
        <p:txBody>
          <a:bodyPr wrap="square" lIns="0" tIns="0" rIns="0" bIns="0" rtlCol="0" anchor="t"/>
          <a:lstStyle/>
          <a:p>
            <a:pPr algn="ctr" indent="0" marL="0">
              <a:buNone/>
            </a:pPr>
            <a:r>
              <a:rPr lang="en-US" sz="1400" dirty="0">
                <a:solidFill>
                  <a:schemeClr val="tx1"/>
                </a:solidFill>
              </a:rPr>
              <a:t>Sí: el prototipo aprende con un AND entre él y X.</a:t>
            </a:r>
            <a:endParaRPr lang="en-US" sz="1400" dirty="0"/>
          </a:p>
        </p:txBody>
      </p:sp>
      <p:sp>
        <p:nvSpPr>
          <p:cNvPr id="23" name="Shape 21"/>
          <p:cNvSpPr/>
          <p:nvPr/>
        </p:nvSpPr>
        <p:spPr>
          <a:xfrm>
            <a:off x="7187184" y="1234440"/>
            <a:ext cx="1517904" cy="3108960"/>
          </a:xfrm>
          <a:prstGeom prst="roundRect">
            <a:avLst>
              <a:gd name="adj" fmla="val 7229"/>
            </a:avLst>
          </a:prstGeom>
          <a:solidFill>
            <a:schemeClr val="bg2"/>
          </a:solidFill>
          <a:ln w="12700">
            <a:solidFill>
              <a:schemeClr val="bg2"/>
            </a:solidFill>
            <a:prstDash val="solid"/>
          </a:ln>
        </p:spPr>
      </p:sp>
      <p:sp>
        <p:nvSpPr>
          <p:cNvPr id="24" name="neurona"/>
          <p:cNvSpPr/>
          <p:nvPr/>
        </p:nvSpPr>
        <p:spPr>
          <a:xfrm>
            <a:off x="7671816" y="141732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7671816" y="1417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Text 24"/>
          <p:cNvSpPr txBox="1"/>
          <p:nvPr/>
        </p:nvSpPr>
        <p:spPr>
          <a:xfrm>
            <a:off x="7278624" y="2103120"/>
            <a:ext cx="1335024" cy="365760"/>
          </a:xfrm>
          <a:prstGeom prst="rect">
            <a:avLst/>
          </a:prstGeom>
          <a:noFill/>
          <a:ln/>
        </p:spPr>
        <p:txBody>
          <a:bodyPr wrap="square" lIns="0" tIns="0" rIns="0" bIns="0" rtlCol="0" anchor="t"/>
          <a:lstStyle/>
          <a:p>
            <a:pPr algn="ctr" indent="0" marL="0">
              <a:buNone/>
            </a:pPr>
            <a:r>
              <a:rPr lang="en-US" sz="1700" b="1" dirty="0">
                <a:solidFill>
                  <a:schemeClr val="tx1"/>
                </a:solidFill>
              </a:rPr>
              <a:t>Reset</a:t>
            </a:r>
            <a:endParaRPr lang="en-US" sz="1700" dirty="0"/>
          </a:p>
        </p:txBody>
      </p:sp>
      <p:sp>
        <p:nvSpPr>
          <p:cNvPr id="27" name="Text 25"/>
          <p:cNvSpPr txBox="1"/>
          <p:nvPr/>
        </p:nvSpPr>
        <p:spPr>
          <a:xfrm>
            <a:off x="7296912" y="2514600"/>
            <a:ext cx="1298448" cy="1737360"/>
          </a:xfrm>
          <a:prstGeom prst="rect">
            <a:avLst/>
          </a:prstGeom>
          <a:noFill/>
          <a:ln/>
        </p:spPr>
        <p:txBody>
          <a:bodyPr wrap="square" lIns="0" tIns="0" rIns="0" bIns="0" rtlCol="0" anchor="t"/>
          <a:lstStyle/>
          <a:p>
            <a:pPr algn="ctr" indent="0" marL="0">
              <a:buNone/>
            </a:pPr>
            <a:r>
              <a:rPr lang="en-US" sz="1400" dirty="0">
                <a:solidFill>
                  <a:schemeClr val="tx1"/>
                </a:solidFill>
              </a:rPr>
              <a:t>No: se descarta y compite la siguiente. Si ninguna sirve, nace una categoría nueva.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Un ejemplo de Lippmann: las letras C, E y F</a:t>
            </a:r>
            <a:endParaRPr lang="en-US" sz="3000" dirty="0"/>
          </a:p>
        </p:txBody>
      </p:sp>
      <p:sp>
        <p:nvSpPr>
          <p:cNvPr id="3" name="Shape 1"/>
          <p:cNvSpPr/>
          <p:nvPr/>
        </p:nvSpPr>
        <p:spPr>
          <a:xfrm>
            <a:off x="548640" y="1325880"/>
            <a:ext cx="246888" cy="246888"/>
          </a:xfrm>
          <a:prstGeom prst="rect">
            <a:avLst/>
          </a:prstGeom>
          <a:solidFill>
            <a:schemeClr val="tx1"/>
          </a:solidFill>
          <a:ln w="12700">
            <a:solidFill>
              <a:schemeClr val="tx1"/>
            </a:solidFill>
            <a:prstDash val="solid"/>
          </a:ln>
        </p:spPr>
      </p:sp>
      <p:sp>
        <p:nvSpPr>
          <p:cNvPr id="4" name="Shape 2"/>
          <p:cNvSpPr/>
          <p:nvPr/>
        </p:nvSpPr>
        <p:spPr>
          <a:xfrm>
            <a:off x="822960" y="1325880"/>
            <a:ext cx="246888" cy="246888"/>
          </a:xfrm>
          <a:prstGeom prst="rect">
            <a:avLst/>
          </a:prstGeom>
          <a:solidFill>
            <a:schemeClr val="tx1"/>
          </a:solidFill>
          <a:ln w="12700">
            <a:solidFill>
              <a:schemeClr val="tx1"/>
            </a:solidFill>
            <a:prstDash val="solid"/>
          </a:ln>
        </p:spPr>
      </p:sp>
      <p:sp>
        <p:nvSpPr>
          <p:cNvPr id="5" name="Shape 3"/>
          <p:cNvSpPr/>
          <p:nvPr/>
        </p:nvSpPr>
        <p:spPr>
          <a:xfrm>
            <a:off x="1097280" y="1325880"/>
            <a:ext cx="246888" cy="246888"/>
          </a:xfrm>
          <a:prstGeom prst="rect">
            <a:avLst/>
          </a:prstGeom>
          <a:solidFill>
            <a:schemeClr val="tx1"/>
          </a:solidFill>
          <a:ln w="12700">
            <a:solidFill>
              <a:schemeClr val="tx1"/>
            </a:solidFill>
            <a:prstDash val="solid"/>
          </a:ln>
        </p:spPr>
      </p:sp>
      <p:sp>
        <p:nvSpPr>
          <p:cNvPr id="6" name="Shape 4"/>
          <p:cNvSpPr/>
          <p:nvPr/>
        </p:nvSpPr>
        <p:spPr>
          <a:xfrm>
            <a:off x="1371600" y="1325880"/>
            <a:ext cx="246888" cy="246888"/>
          </a:xfrm>
          <a:prstGeom prst="rect">
            <a:avLst/>
          </a:prstGeom>
          <a:solidFill>
            <a:schemeClr val="tx1"/>
          </a:solidFill>
          <a:ln w="12700">
            <a:solidFill>
              <a:schemeClr val="tx1"/>
            </a:solidFill>
            <a:prstDash val="solid"/>
          </a:ln>
        </p:spPr>
      </p:sp>
      <p:sp>
        <p:nvSpPr>
          <p:cNvPr id="7" name="Shape 5"/>
          <p:cNvSpPr/>
          <p:nvPr/>
        </p:nvSpPr>
        <p:spPr>
          <a:xfrm>
            <a:off x="1645920" y="1325880"/>
            <a:ext cx="246888" cy="246888"/>
          </a:xfrm>
          <a:prstGeom prst="rect">
            <a:avLst/>
          </a:prstGeom>
          <a:solidFill>
            <a:schemeClr val="tx1"/>
          </a:solidFill>
          <a:ln w="12700">
            <a:solidFill>
              <a:schemeClr val="tx1"/>
            </a:solidFill>
            <a:prstDash val="solid"/>
          </a:ln>
        </p:spPr>
      </p:sp>
      <p:sp>
        <p:nvSpPr>
          <p:cNvPr id="8" name="Shape 6"/>
          <p:cNvSpPr/>
          <p:nvPr/>
        </p:nvSpPr>
        <p:spPr>
          <a:xfrm>
            <a:off x="548640" y="1600200"/>
            <a:ext cx="246888" cy="246888"/>
          </a:xfrm>
          <a:prstGeom prst="rect">
            <a:avLst/>
          </a:prstGeom>
          <a:solidFill>
            <a:schemeClr val="tx1"/>
          </a:solidFill>
          <a:ln w="12700">
            <a:solidFill>
              <a:schemeClr val="tx1"/>
            </a:solidFill>
            <a:prstDash val="solid"/>
          </a:ln>
        </p:spPr>
      </p:sp>
      <p:sp>
        <p:nvSpPr>
          <p:cNvPr id="9" name="Shape 7"/>
          <p:cNvSpPr/>
          <p:nvPr/>
        </p:nvSpPr>
        <p:spPr>
          <a:xfrm>
            <a:off x="822960" y="1600200"/>
            <a:ext cx="246888" cy="246888"/>
          </a:xfrm>
          <a:prstGeom prst="rect">
            <a:avLst/>
          </a:prstGeom>
          <a:solidFill>
            <a:schemeClr val="bg2"/>
          </a:solidFill>
          <a:ln w="12700">
            <a:solidFill>
              <a:schemeClr val="bg2"/>
            </a:solidFill>
            <a:prstDash val="solid"/>
          </a:ln>
        </p:spPr>
      </p:sp>
      <p:sp>
        <p:nvSpPr>
          <p:cNvPr id="10" name="Shape 8"/>
          <p:cNvSpPr/>
          <p:nvPr/>
        </p:nvSpPr>
        <p:spPr>
          <a:xfrm>
            <a:off x="1097280" y="1600200"/>
            <a:ext cx="246888" cy="246888"/>
          </a:xfrm>
          <a:prstGeom prst="rect">
            <a:avLst/>
          </a:prstGeom>
          <a:solidFill>
            <a:schemeClr val="bg2"/>
          </a:solidFill>
          <a:ln w="12700">
            <a:solidFill>
              <a:schemeClr val="bg2"/>
            </a:solidFill>
            <a:prstDash val="solid"/>
          </a:ln>
        </p:spPr>
      </p:sp>
      <p:sp>
        <p:nvSpPr>
          <p:cNvPr id="11" name="Shape 9"/>
          <p:cNvSpPr/>
          <p:nvPr/>
        </p:nvSpPr>
        <p:spPr>
          <a:xfrm>
            <a:off x="1371600" y="1600200"/>
            <a:ext cx="246888" cy="246888"/>
          </a:xfrm>
          <a:prstGeom prst="rect">
            <a:avLst/>
          </a:prstGeom>
          <a:solidFill>
            <a:schemeClr val="bg2"/>
          </a:solidFill>
          <a:ln w="12700">
            <a:solidFill>
              <a:schemeClr val="bg2"/>
            </a:solidFill>
            <a:prstDash val="solid"/>
          </a:ln>
        </p:spPr>
      </p:sp>
      <p:sp>
        <p:nvSpPr>
          <p:cNvPr id="12" name="Shape 10"/>
          <p:cNvSpPr/>
          <p:nvPr/>
        </p:nvSpPr>
        <p:spPr>
          <a:xfrm>
            <a:off x="1645920" y="1600200"/>
            <a:ext cx="246888" cy="246888"/>
          </a:xfrm>
          <a:prstGeom prst="rect">
            <a:avLst/>
          </a:prstGeom>
          <a:solidFill>
            <a:schemeClr val="bg2"/>
          </a:solidFill>
          <a:ln w="12700">
            <a:solidFill>
              <a:schemeClr val="bg2"/>
            </a:solidFill>
            <a:prstDash val="solid"/>
          </a:ln>
        </p:spPr>
      </p:sp>
      <p:sp>
        <p:nvSpPr>
          <p:cNvPr id="13" name="Shape 11"/>
          <p:cNvSpPr/>
          <p:nvPr/>
        </p:nvSpPr>
        <p:spPr>
          <a:xfrm>
            <a:off x="548640" y="1874520"/>
            <a:ext cx="246888" cy="246888"/>
          </a:xfrm>
          <a:prstGeom prst="rect">
            <a:avLst/>
          </a:prstGeom>
          <a:solidFill>
            <a:schemeClr val="tx1"/>
          </a:solidFill>
          <a:ln w="12700">
            <a:solidFill>
              <a:schemeClr val="tx1"/>
            </a:solidFill>
            <a:prstDash val="solid"/>
          </a:ln>
        </p:spPr>
      </p:sp>
      <p:sp>
        <p:nvSpPr>
          <p:cNvPr id="14" name="Shape 12"/>
          <p:cNvSpPr/>
          <p:nvPr/>
        </p:nvSpPr>
        <p:spPr>
          <a:xfrm>
            <a:off x="822960" y="1874520"/>
            <a:ext cx="246888" cy="246888"/>
          </a:xfrm>
          <a:prstGeom prst="rect">
            <a:avLst/>
          </a:prstGeom>
          <a:solidFill>
            <a:schemeClr val="bg2"/>
          </a:solidFill>
          <a:ln w="12700">
            <a:solidFill>
              <a:schemeClr val="bg2"/>
            </a:solidFill>
            <a:prstDash val="solid"/>
          </a:ln>
        </p:spPr>
      </p:sp>
      <p:sp>
        <p:nvSpPr>
          <p:cNvPr id="15" name="Shape 13"/>
          <p:cNvSpPr/>
          <p:nvPr/>
        </p:nvSpPr>
        <p:spPr>
          <a:xfrm>
            <a:off x="1097280" y="1874520"/>
            <a:ext cx="246888" cy="246888"/>
          </a:xfrm>
          <a:prstGeom prst="rect">
            <a:avLst/>
          </a:prstGeom>
          <a:solidFill>
            <a:schemeClr val="bg2"/>
          </a:solidFill>
          <a:ln w="12700">
            <a:solidFill>
              <a:schemeClr val="bg2"/>
            </a:solidFill>
            <a:prstDash val="solid"/>
          </a:ln>
        </p:spPr>
      </p:sp>
      <p:sp>
        <p:nvSpPr>
          <p:cNvPr id="16" name="Shape 14"/>
          <p:cNvSpPr/>
          <p:nvPr/>
        </p:nvSpPr>
        <p:spPr>
          <a:xfrm>
            <a:off x="1371600" y="1874520"/>
            <a:ext cx="246888" cy="246888"/>
          </a:xfrm>
          <a:prstGeom prst="rect">
            <a:avLst/>
          </a:prstGeom>
          <a:solidFill>
            <a:schemeClr val="bg2"/>
          </a:solidFill>
          <a:ln w="12700">
            <a:solidFill>
              <a:schemeClr val="bg2"/>
            </a:solidFill>
            <a:prstDash val="solid"/>
          </a:ln>
        </p:spPr>
      </p:sp>
      <p:sp>
        <p:nvSpPr>
          <p:cNvPr id="17" name="Shape 15"/>
          <p:cNvSpPr/>
          <p:nvPr/>
        </p:nvSpPr>
        <p:spPr>
          <a:xfrm>
            <a:off x="1645920" y="1874520"/>
            <a:ext cx="246888" cy="246888"/>
          </a:xfrm>
          <a:prstGeom prst="rect">
            <a:avLst/>
          </a:prstGeom>
          <a:solidFill>
            <a:schemeClr val="bg2"/>
          </a:solidFill>
          <a:ln w="12700">
            <a:solidFill>
              <a:schemeClr val="bg2"/>
            </a:solidFill>
            <a:prstDash val="solid"/>
          </a:ln>
        </p:spPr>
      </p:sp>
      <p:sp>
        <p:nvSpPr>
          <p:cNvPr id="18" name="Shape 16"/>
          <p:cNvSpPr/>
          <p:nvPr/>
        </p:nvSpPr>
        <p:spPr>
          <a:xfrm>
            <a:off x="548640" y="2148840"/>
            <a:ext cx="246888" cy="246888"/>
          </a:xfrm>
          <a:prstGeom prst="rect">
            <a:avLst/>
          </a:prstGeom>
          <a:solidFill>
            <a:schemeClr val="tx1"/>
          </a:solidFill>
          <a:ln w="12700">
            <a:solidFill>
              <a:schemeClr val="tx1"/>
            </a:solidFill>
            <a:prstDash val="solid"/>
          </a:ln>
        </p:spPr>
      </p:sp>
      <p:sp>
        <p:nvSpPr>
          <p:cNvPr id="19" name="Shape 17"/>
          <p:cNvSpPr/>
          <p:nvPr/>
        </p:nvSpPr>
        <p:spPr>
          <a:xfrm>
            <a:off x="822960" y="2148840"/>
            <a:ext cx="246888" cy="246888"/>
          </a:xfrm>
          <a:prstGeom prst="rect">
            <a:avLst/>
          </a:prstGeom>
          <a:solidFill>
            <a:schemeClr val="bg2"/>
          </a:solidFill>
          <a:ln w="12700">
            <a:solidFill>
              <a:schemeClr val="bg2"/>
            </a:solidFill>
            <a:prstDash val="solid"/>
          </a:ln>
        </p:spPr>
      </p:sp>
      <p:sp>
        <p:nvSpPr>
          <p:cNvPr id="20" name="Shape 18"/>
          <p:cNvSpPr/>
          <p:nvPr/>
        </p:nvSpPr>
        <p:spPr>
          <a:xfrm>
            <a:off x="1097280" y="2148840"/>
            <a:ext cx="246888" cy="246888"/>
          </a:xfrm>
          <a:prstGeom prst="rect">
            <a:avLst/>
          </a:prstGeom>
          <a:solidFill>
            <a:schemeClr val="bg2"/>
          </a:solidFill>
          <a:ln w="12700">
            <a:solidFill>
              <a:schemeClr val="bg2"/>
            </a:solidFill>
            <a:prstDash val="solid"/>
          </a:ln>
        </p:spPr>
      </p:sp>
      <p:sp>
        <p:nvSpPr>
          <p:cNvPr id="21" name="Shape 19"/>
          <p:cNvSpPr/>
          <p:nvPr/>
        </p:nvSpPr>
        <p:spPr>
          <a:xfrm>
            <a:off x="1371600" y="2148840"/>
            <a:ext cx="246888" cy="246888"/>
          </a:xfrm>
          <a:prstGeom prst="rect">
            <a:avLst/>
          </a:prstGeom>
          <a:solidFill>
            <a:schemeClr val="bg2"/>
          </a:solidFill>
          <a:ln w="12700">
            <a:solidFill>
              <a:schemeClr val="bg2"/>
            </a:solidFill>
            <a:prstDash val="solid"/>
          </a:ln>
        </p:spPr>
      </p:sp>
      <p:sp>
        <p:nvSpPr>
          <p:cNvPr id="22" name="Shape 20"/>
          <p:cNvSpPr/>
          <p:nvPr/>
        </p:nvSpPr>
        <p:spPr>
          <a:xfrm>
            <a:off x="1645920" y="2148840"/>
            <a:ext cx="246888" cy="246888"/>
          </a:xfrm>
          <a:prstGeom prst="rect">
            <a:avLst/>
          </a:prstGeom>
          <a:solidFill>
            <a:schemeClr val="bg2"/>
          </a:solidFill>
          <a:ln w="12700">
            <a:solidFill>
              <a:schemeClr val="bg2"/>
            </a:solidFill>
            <a:prstDash val="solid"/>
          </a:ln>
        </p:spPr>
      </p:sp>
      <p:sp>
        <p:nvSpPr>
          <p:cNvPr id="23" name="Shape 21"/>
          <p:cNvSpPr/>
          <p:nvPr/>
        </p:nvSpPr>
        <p:spPr>
          <a:xfrm>
            <a:off x="548640" y="2423160"/>
            <a:ext cx="246888" cy="246888"/>
          </a:xfrm>
          <a:prstGeom prst="rect">
            <a:avLst/>
          </a:prstGeom>
          <a:solidFill>
            <a:schemeClr val="tx1"/>
          </a:solidFill>
          <a:ln w="12700">
            <a:solidFill>
              <a:schemeClr val="tx1"/>
            </a:solidFill>
            <a:prstDash val="solid"/>
          </a:ln>
        </p:spPr>
      </p:sp>
      <p:sp>
        <p:nvSpPr>
          <p:cNvPr id="24" name="Shape 22"/>
          <p:cNvSpPr/>
          <p:nvPr/>
        </p:nvSpPr>
        <p:spPr>
          <a:xfrm>
            <a:off x="822960" y="2423160"/>
            <a:ext cx="246888" cy="246888"/>
          </a:xfrm>
          <a:prstGeom prst="rect">
            <a:avLst/>
          </a:prstGeom>
          <a:solidFill>
            <a:schemeClr val="tx1"/>
          </a:solidFill>
          <a:ln w="12700">
            <a:solidFill>
              <a:schemeClr val="tx1"/>
            </a:solidFill>
            <a:prstDash val="solid"/>
          </a:ln>
        </p:spPr>
      </p:sp>
      <p:sp>
        <p:nvSpPr>
          <p:cNvPr id="25" name="Shape 23"/>
          <p:cNvSpPr/>
          <p:nvPr/>
        </p:nvSpPr>
        <p:spPr>
          <a:xfrm>
            <a:off x="1097280" y="2423160"/>
            <a:ext cx="246888" cy="246888"/>
          </a:xfrm>
          <a:prstGeom prst="rect">
            <a:avLst/>
          </a:prstGeom>
          <a:solidFill>
            <a:schemeClr val="tx1"/>
          </a:solidFill>
          <a:ln w="12700">
            <a:solidFill>
              <a:schemeClr val="tx1"/>
            </a:solidFill>
            <a:prstDash val="solid"/>
          </a:ln>
        </p:spPr>
      </p:sp>
      <p:sp>
        <p:nvSpPr>
          <p:cNvPr id="26" name="Shape 24"/>
          <p:cNvSpPr/>
          <p:nvPr/>
        </p:nvSpPr>
        <p:spPr>
          <a:xfrm>
            <a:off x="1371600" y="2423160"/>
            <a:ext cx="246888" cy="246888"/>
          </a:xfrm>
          <a:prstGeom prst="rect">
            <a:avLst/>
          </a:prstGeom>
          <a:solidFill>
            <a:schemeClr val="tx1"/>
          </a:solidFill>
          <a:ln w="12700">
            <a:solidFill>
              <a:schemeClr val="tx1"/>
            </a:solidFill>
            <a:prstDash val="solid"/>
          </a:ln>
        </p:spPr>
      </p:sp>
      <p:sp>
        <p:nvSpPr>
          <p:cNvPr id="27" name="Shape 25"/>
          <p:cNvSpPr/>
          <p:nvPr/>
        </p:nvSpPr>
        <p:spPr>
          <a:xfrm>
            <a:off x="1645920" y="2423160"/>
            <a:ext cx="246888" cy="246888"/>
          </a:xfrm>
          <a:prstGeom prst="rect">
            <a:avLst/>
          </a:prstGeom>
          <a:solidFill>
            <a:schemeClr val="tx1"/>
          </a:solidFill>
          <a:ln w="12700">
            <a:solidFill>
              <a:schemeClr val="tx1"/>
            </a:solidFill>
            <a:prstDash val="solid"/>
          </a:ln>
        </p:spPr>
      </p:sp>
      <p:sp>
        <p:nvSpPr>
          <p:cNvPr id="28" name="Text 26"/>
          <p:cNvSpPr txBox="1"/>
          <p:nvPr/>
        </p:nvSpPr>
        <p:spPr>
          <a:xfrm>
            <a:off x="548640" y="2788920"/>
            <a:ext cx="1344168"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mbria" pitchFamily="34" charset="0"/>
                <a:ea typeface="Cambria" pitchFamily="34" charset="-122"/>
                <a:cs typeface="Cambria" pitchFamily="34" charset="-120"/>
              </a:rPr>
              <a:t>C</a:t>
            </a:r>
            <a:endParaRPr lang="en-US" sz="1800" dirty="0"/>
          </a:p>
        </p:txBody>
      </p:sp>
      <p:sp>
        <p:nvSpPr>
          <p:cNvPr id="29" name="Shape 27"/>
          <p:cNvSpPr/>
          <p:nvPr/>
        </p:nvSpPr>
        <p:spPr>
          <a:xfrm>
            <a:off x="2148840" y="1325880"/>
            <a:ext cx="246888" cy="246888"/>
          </a:xfrm>
          <a:prstGeom prst="rect">
            <a:avLst/>
          </a:prstGeom>
          <a:solidFill>
            <a:schemeClr val="tx1"/>
          </a:solidFill>
          <a:ln w="12700">
            <a:solidFill>
              <a:schemeClr val="tx1"/>
            </a:solidFill>
            <a:prstDash val="solid"/>
          </a:ln>
        </p:spPr>
      </p:sp>
      <p:sp>
        <p:nvSpPr>
          <p:cNvPr id="30" name="Shape 28"/>
          <p:cNvSpPr/>
          <p:nvPr/>
        </p:nvSpPr>
        <p:spPr>
          <a:xfrm>
            <a:off x="2423160" y="1325880"/>
            <a:ext cx="246888" cy="246888"/>
          </a:xfrm>
          <a:prstGeom prst="rect">
            <a:avLst/>
          </a:prstGeom>
          <a:solidFill>
            <a:schemeClr val="tx1"/>
          </a:solidFill>
          <a:ln w="12700">
            <a:solidFill>
              <a:schemeClr val="tx1"/>
            </a:solidFill>
            <a:prstDash val="solid"/>
          </a:ln>
        </p:spPr>
      </p:sp>
      <p:sp>
        <p:nvSpPr>
          <p:cNvPr id="31" name="Shape 29"/>
          <p:cNvSpPr/>
          <p:nvPr/>
        </p:nvSpPr>
        <p:spPr>
          <a:xfrm>
            <a:off x="2697480" y="1325880"/>
            <a:ext cx="246888" cy="246888"/>
          </a:xfrm>
          <a:prstGeom prst="rect">
            <a:avLst/>
          </a:prstGeom>
          <a:solidFill>
            <a:schemeClr val="tx1"/>
          </a:solidFill>
          <a:ln w="12700">
            <a:solidFill>
              <a:schemeClr val="tx1"/>
            </a:solidFill>
            <a:prstDash val="solid"/>
          </a:ln>
        </p:spPr>
      </p:sp>
      <p:sp>
        <p:nvSpPr>
          <p:cNvPr id="32" name="Shape 30"/>
          <p:cNvSpPr/>
          <p:nvPr/>
        </p:nvSpPr>
        <p:spPr>
          <a:xfrm>
            <a:off x="2971800" y="1325880"/>
            <a:ext cx="246888" cy="246888"/>
          </a:xfrm>
          <a:prstGeom prst="rect">
            <a:avLst/>
          </a:prstGeom>
          <a:solidFill>
            <a:schemeClr val="tx1"/>
          </a:solidFill>
          <a:ln w="12700">
            <a:solidFill>
              <a:schemeClr val="tx1"/>
            </a:solidFill>
            <a:prstDash val="solid"/>
          </a:ln>
        </p:spPr>
      </p:sp>
      <p:sp>
        <p:nvSpPr>
          <p:cNvPr id="33" name="Shape 31"/>
          <p:cNvSpPr/>
          <p:nvPr/>
        </p:nvSpPr>
        <p:spPr>
          <a:xfrm>
            <a:off x="3246120" y="1325880"/>
            <a:ext cx="246888" cy="246888"/>
          </a:xfrm>
          <a:prstGeom prst="rect">
            <a:avLst/>
          </a:prstGeom>
          <a:solidFill>
            <a:schemeClr val="tx1"/>
          </a:solidFill>
          <a:ln w="12700">
            <a:solidFill>
              <a:schemeClr val="tx1"/>
            </a:solidFill>
            <a:prstDash val="solid"/>
          </a:ln>
        </p:spPr>
      </p:sp>
      <p:sp>
        <p:nvSpPr>
          <p:cNvPr id="34" name="Shape 32"/>
          <p:cNvSpPr/>
          <p:nvPr/>
        </p:nvSpPr>
        <p:spPr>
          <a:xfrm>
            <a:off x="2148840" y="1600200"/>
            <a:ext cx="246888" cy="246888"/>
          </a:xfrm>
          <a:prstGeom prst="rect">
            <a:avLst/>
          </a:prstGeom>
          <a:solidFill>
            <a:schemeClr val="tx1"/>
          </a:solidFill>
          <a:ln w="12700">
            <a:solidFill>
              <a:schemeClr val="tx1"/>
            </a:solidFill>
            <a:prstDash val="solid"/>
          </a:ln>
        </p:spPr>
      </p:sp>
      <p:sp>
        <p:nvSpPr>
          <p:cNvPr id="35" name="Shape 33"/>
          <p:cNvSpPr/>
          <p:nvPr/>
        </p:nvSpPr>
        <p:spPr>
          <a:xfrm>
            <a:off x="2423160" y="1600200"/>
            <a:ext cx="246888" cy="246888"/>
          </a:xfrm>
          <a:prstGeom prst="rect">
            <a:avLst/>
          </a:prstGeom>
          <a:solidFill>
            <a:schemeClr val="bg2"/>
          </a:solidFill>
          <a:ln w="12700">
            <a:solidFill>
              <a:schemeClr val="bg2"/>
            </a:solidFill>
            <a:prstDash val="solid"/>
          </a:ln>
        </p:spPr>
      </p:sp>
      <p:sp>
        <p:nvSpPr>
          <p:cNvPr id="36" name="Shape 34"/>
          <p:cNvSpPr/>
          <p:nvPr/>
        </p:nvSpPr>
        <p:spPr>
          <a:xfrm>
            <a:off x="2697480" y="1600200"/>
            <a:ext cx="246888" cy="246888"/>
          </a:xfrm>
          <a:prstGeom prst="rect">
            <a:avLst/>
          </a:prstGeom>
          <a:solidFill>
            <a:schemeClr val="bg2"/>
          </a:solidFill>
          <a:ln w="12700">
            <a:solidFill>
              <a:schemeClr val="bg2"/>
            </a:solidFill>
            <a:prstDash val="solid"/>
          </a:ln>
        </p:spPr>
      </p:sp>
      <p:sp>
        <p:nvSpPr>
          <p:cNvPr id="37" name="Shape 35"/>
          <p:cNvSpPr/>
          <p:nvPr/>
        </p:nvSpPr>
        <p:spPr>
          <a:xfrm>
            <a:off x="2971800" y="1600200"/>
            <a:ext cx="246888" cy="246888"/>
          </a:xfrm>
          <a:prstGeom prst="rect">
            <a:avLst/>
          </a:prstGeom>
          <a:solidFill>
            <a:schemeClr val="bg2"/>
          </a:solidFill>
          <a:ln w="12700">
            <a:solidFill>
              <a:schemeClr val="bg2"/>
            </a:solidFill>
            <a:prstDash val="solid"/>
          </a:ln>
        </p:spPr>
      </p:sp>
      <p:sp>
        <p:nvSpPr>
          <p:cNvPr id="38" name="Shape 36"/>
          <p:cNvSpPr/>
          <p:nvPr/>
        </p:nvSpPr>
        <p:spPr>
          <a:xfrm>
            <a:off x="3246120" y="1600200"/>
            <a:ext cx="246888" cy="246888"/>
          </a:xfrm>
          <a:prstGeom prst="rect">
            <a:avLst/>
          </a:prstGeom>
          <a:solidFill>
            <a:schemeClr val="bg2"/>
          </a:solidFill>
          <a:ln w="12700">
            <a:solidFill>
              <a:schemeClr val="bg2"/>
            </a:solidFill>
            <a:prstDash val="solid"/>
          </a:ln>
        </p:spPr>
      </p:sp>
      <p:sp>
        <p:nvSpPr>
          <p:cNvPr id="39" name="Shape 37"/>
          <p:cNvSpPr/>
          <p:nvPr/>
        </p:nvSpPr>
        <p:spPr>
          <a:xfrm>
            <a:off x="2148840" y="1874520"/>
            <a:ext cx="246888" cy="246888"/>
          </a:xfrm>
          <a:prstGeom prst="rect">
            <a:avLst/>
          </a:prstGeom>
          <a:solidFill>
            <a:schemeClr val="tx1"/>
          </a:solidFill>
          <a:ln w="12700">
            <a:solidFill>
              <a:schemeClr val="tx1"/>
            </a:solidFill>
            <a:prstDash val="solid"/>
          </a:ln>
        </p:spPr>
      </p:sp>
      <p:sp>
        <p:nvSpPr>
          <p:cNvPr id="40" name="Shape 38"/>
          <p:cNvSpPr/>
          <p:nvPr/>
        </p:nvSpPr>
        <p:spPr>
          <a:xfrm>
            <a:off x="2423160" y="1874520"/>
            <a:ext cx="246888" cy="246888"/>
          </a:xfrm>
          <a:prstGeom prst="rect">
            <a:avLst/>
          </a:prstGeom>
          <a:solidFill>
            <a:schemeClr val="tx1"/>
          </a:solidFill>
          <a:ln w="12700">
            <a:solidFill>
              <a:schemeClr val="tx1"/>
            </a:solidFill>
            <a:prstDash val="solid"/>
          </a:ln>
        </p:spPr>
      </p:sp>
      <p:sp>
        <p:nvSpPr>
          <p:cNvPr id="41" name="Shape 39"/>
          <p:cNvSpPr/>
          <p:nvPr/>
        </p:nvSpPr>
        <p:spPr>
          <a:xfrm>
            <a:off x="2697480" y="1874520"/>
            <a:ext cx="246888" cy="246888"/>
          </a:xfrm>
          <a:prstGeom prst="rect">
            <a:avLst/>
          </a:prstGeom>
          <a:solidFill>
            <a:schemeClr val="tx1"/>
          </a:solidFill>
          <a:ln w="12700">
            <a:solidFill>
              <a:schemeClr val="tx1"/>
            </a:solidFill>
            <a:prstDash val="solid"/>
          </a:ln>
        </p:spPr>
      </p:sp>
      <p:sp>
        <p:nvSpPr>
          <p:cNvPr id="42" name="Shape 40"/>
          <p:cNvSpPr/>
          <p:nvPr/>
        </p:nvSpPr>
        <p:spPr>
          <a:xfrm>
            <a:off x="2971800" y="1874520"/>
            <a:ext cx="246888" cy="246888"/>
          </a:xfrm>
          <a:prstGeom prst="rect">
            <a:avLst/>
          </a:prstGeom>
          <a:solidFill>
            <a:schemeClr val="bg2"/>
          </a:solidFill>
          <a:ln w="12700">
            <a:solidFill>
              <a:schemeClr val="bg2"/>
            </a:solidFill>
            <a:prstDash val="solid"/>
          </a:ln>
        </p:spPr>
      </p:sp>
      <p:sp>
        <p:nvSpPr>
          <p:cNvPr id="43" name="Shape 41"/>
          <p:cNvSpPr/>
          <p:nvPr/>
        </p:nvSpPr>
        <p:spPr>
          <a:xfrm>
            <a:off x="3246120" y="1874520"/>
            <a:ext cx="246888" cy="246888"/>
          </a:xfrm>
          <a:prstGeom prst="rect">
            <a:avLst/>
          </a:prstGeom>
          <a:solidFill>
            <a:schemeClr val="bg2"/>
          </a:solidFill>
          <a:ln w="12700">
            <a:solidFill>
              <a:schemeClr val="bg2"/>
            </a:solidFill>
            <a:prstDash val="solid"/>
          </a:ln>
        </p:spPr>
      </p:sp>
      <p:sp>
        <p:nvSpPr>
          <p:cNvPr id="44" name="Shape 42"/>
          <p:cNvSpPr/>
          <p:nvPr/>
        </p:nvSpPr>
        <p:spPr>
          <a:xfrm>
            <a:off x="2148840" y="2148840"/>
            <a:ext cx="246888" cy="246888"/>
          </a:xfrm>
          <a:prstGeom prst="rect">
            <a:avLst/>
          </a:prstGeom>
          <a:solidFill>
            <a:schemeClr val="tx1"/>
          </a:solidFill>
          <a:ln w="12700">
            <a:solidFill>
              <a:schemeClr val="tx1"/>
            </a:solidFill>
            <a:prstDash val="solid"/>
          </a:ln>
        </p:spPr>
      </p:sp>
      <p:sp>
        <p:nvSpPr>
          <p:cNvPr id="45" name="Shape 43"/>
          <p:cNvSpPr/>
          <p:nvPr/>
        </p:nvSpPr>
        <p:spPr>
          <a:xfrm>
            <a:off x="2423160" y="2148840"/>
            <a:ext cx="246888" cy="246888"/>
          </a:xfrm>
          <a:prstGeom prst="rect">
            <a:avLst/>
          </a:prstGeom>
          <a:solidFill>
            <a:schemeClr val="bg2"/>
          </a:solidFill>
          <a:ln w="12700">
            <a:solidFill>
              <a:schemeClr val="bg2"/>
            </a:solidFill>
            <a:prstDash val="solid"/>
          </a:ln>
        </p:spPr>
      </p:sp>
      <p:sp>
        <p:nvSpPr>
          <p:cNvPr id="46" name="Shape 44"/>
          <p:cNvSpPr/>
          <p:nvPr/>
        </p:nvSpPr>
        <p:spPr>
          <a:xfrm>
            <a:off x="2697480" y="2148840"/>
            <a:ext cx="246888" cy="246888"/>
          </a:xfrm>
          <a:prstGeom prst="rect">
            <a:avLst/>
          </a:prstGeom>
          <a:solidFill>
            <a:schemeClr val="bg2"/>
          </a:solidFill>
          <a:ln w="12700">
            <a:solidFill>
              <a:schemeClr val="bg2"/>
            </a:solidFill>
            <a:prstDash val="solid"/>
          </a:ln>
        </p:spPr>
      </p:sp>
      <p:sp>
        <p:nvSpPr>
          <p:cNvPr id="47" name="Shape 45"/>
          <p:cNvSpPr/>
          <p:nvPr/>
        </p:nvSpPr>
        <p:spPr>
          <a:xfrm>
            <a:off x="2971800" y="2148840"/>
            <a:ext cx="246888" cy="246888"/>
          </a:xfrm>
          <a:prstGeom prst="rect">
            <a:avLst/>
          </a:prstGeom>
          <a:solidFill>
            <a:schemeClr val="bg2"/>
          </a:solidFill>
          <a:ln w="12700">
            <a:solidFill>
              <a:schemeClr val="bg2"/>
            </a:solidFill>
            <a:prstDash val="solid"/>
          </a:ln>
        </p:spPr>
      </p:sp>
      <p:sp>
        <p:nvSpPr>
          <p:cNvPr id="48" name="Shape 46"/>
          <p:cNvSpPr/>
          <p:nvPr/>
        </p:nvSpPr>
        <p:spPr>
          <a:xfrm>
            <a:off x="3246120" y="2148840"/>
            <a:ext cx="246888" cy="246888"/>
          </a:xfrm>
          <a:prstGeom prst="rect">
            <a:avLst/>
          </a:prstGeom>
          <a:solidFill>
            <a:schemeClr val="bg2"/>
          </a:solidFill>
          <a:ln w="12700">
            <a:solidFill>
              <a:schemeClr val="bg2"/>
            </a:solidFill>
            <a:prstDash val="solid"/>
          </a:ln>
        </p:spPr>
      </p:sp>
      <p:sp>
        <p:nvSpPr>
          <p:cNvPr id="49" name="Shape 47"/>
          <p:cNvSpPr/>
          <p:nvPr/>
        </p:nvSpPr>
        <p:spPr>
          <a:xfrm>
            <a:off x="2148840" y="2423160"/>
            <a:ext cx="246888" cy="246888"/>
          </a:xfrm>
          <a:prstGeom prst="rect">
            <a:avLst/>
          </a:prstGeom>
          <a:solidFill>
            <a:schemeClr val="tx1"/>
          </a:solidFill>
          <a:ln w="12700">
            <a:solidFill>
              <a:schemeClr val="tx1"/>
            </a:solidFill>
            <a:prstDash val="solid"/>
          </a:ln>
        </p:spPr>
      </p:sp>
      <p:sp>
        <p:nvSpPr>
          <p:cNvPr id="50" name="Shape 48"/>
          <p:cNvSpPr/>
          <p:nvPr/>
        </p:nvSpPr>
        <p:spPr>
          <a:xfrm>
            <a:off x="2423160" y="2423160"/>
            <a:ext cx="246888" cy="246888"/>
          </a:xfrm>
          <a:prstGeom prst="rect">
            <a:avLst/>
          </a:prstGeom>
          <a:solidFill>
            <a:schemeClr val="tx1"/>
          </a:solidFill>
          <a:ln w="12700">
            <a:solidFill>
              <a:schemeClr val="tx1"/>
            </a:solidFill>
            <a:prstDash val="solid"/>
          </a:ln>
        </p:spPr>
      </p:sp>
      <p:sp>
        <p:nvSpPr>
          <p:cNvPr id="51" name="Shape 49"/>
          <p:cNvSpPr/>
          <p:nvPr/>
        </p:nvSpPr>
        <p:spPr>
          <a:xfrm>
            <a:off x="2697480" y="2423160"/>
            <a:ext cx="246888" cy="246888"/>
          </a:xfrm>
          <a:prstGeom prst="rect">
            <a:avLst/>
          </a:prstGeom>
          <a:solidFill>
            <a:schemeClr val="tx1"/>
          </a:solidFill>
          <a:ln w="12700">
            <a:solidFill>
              <a:schemeClr val="tx1"/>
            </a:solidFill>
            <a:prstDash val="solid"/>
          </a:ln>
        </p:spPr>
      </p:sp>
      <p:sp>
        <p:nvSpPr>
          <p:cNvPr id="52" name="Shape 50"/>
          <p:cNvSpPr/>
          <p:nvPr/>
        </p:nvSpPr>
        <p:spPr>
          <a:xfrm>
            <a:off x="2971800" y="2423160"/>
            <a:ext cx="246888" cy="246888"/>
          </a:xfrm>
          <a:prstGeom prst="rect">
            <a:avLst/>
          </a:prstGeom>
          <a:solidFill>
            <a:schemeClr val="tx1"/>
          </a:solidFill>
          <a:ln w="12700">
            <a:solidFill>
              <a:schemeClr val="tx1"/>
            </a:solidFill>
            <a:prstDash val="solid"/>
          </a:ln>
        </p:spPr>
      </p:sp>
      <p:sp>
        <p:nvSpPr>
          <p:cNvPr id="53" name="Shape 51"/>
          <p:cNvSpPr/>
          <p:nvPr/>
        </p:nvSpPr>
        <p:spPr>
          <a:xfrm>
            <a:off x="3246120" y="2423160"/>
            <a:ext cx="246888" cy="246888"/>
          </a:xfrm>
          <a:prstGeom prst="rect">
            <a:avLst/>
          </a:prstGeom>
          <a:solidFill>
            <a:schemeClr val="tx1"/>
          </a:solidFill>
          <a:ln w="12700">
            <a:solidFill>
              <a:schemeClr val="tx1"/>
            </a:solidFill>
            <a:prstDash val="solid"/>
          </a:ln>
        </p:spPr>
      </p:sp>
      <p:sp>
        <p:nvSpPr>
          <p:cNvPr id="54" name="Text 52"/>
          <p:cNvSpPr txBox="1"/>
          <p:nvPr/>
        </p:nvSpPr>
        <p:spPr>
          <a:xfrm>
            <a:off x="2148840" y="2788920"/>
            <a:ext cx="1344168"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mbria" pitchFamily="34" charset="0"/>
                <a:ea typeface="Cambria" pitchFamily="34" charset="-122"/>
                <a:cs typeface="Cambria" pitchFamily="34" charset="-120"/>
              </a:rPr>
              <a:t>E</a:t>
            </a:r>
            <a:endParaRPr lang="en-US" sz="1800" dirty="0"/>
          </a:p>
        </p:txBody>
      </p:sp>
      <p:sp>
        <p:nvSpPr>
          <p:cNvPr id="55" name="Shape 53"/>
          <p:cNvSpPr/>
          <p:nvPr/>
        </p:nvSpPr>
        <p:spPr>
          <a:xfrm>
            <a:off x="3749040" y="1325880"/>
            <a:ext cx="246888" cy="246888"/>
          </a:xfrm>
          <a:prstGeom prst="rect">
            <a:avLst/>
          </a:prstGeom>
          <a:solidFill>
            <a:schemeClr val="tx1"/>
          </a:solidFill>
          <a:ln w="12700">
            <a:solidFill>
              <a:schemeClr val="tx1"/>
            </a:solidFill>
            <a:prstDash val="solid"/>
          </a:ln>
        </p:spPr>
      </p:sp>
      <p:sp>
        <p:nvSpPr>
          <p:cNvPr id="56" name="Shape 54"/>
          <p:cNvSpPr/>
          <p:nvPr/>
        </p:nvSpPr>
        <p:spPr>
          <a:xfrm>
            <a:off x="4023360" y="1325880"/>
            <a:ext cx="246888" cy="246888"/>
          </a:xfrm>
          <a:prstGeom prst="rect">
            <a:avLst/>
          </a:prstGeom>
          <a:solidFill>
            <a:schemeClr val="tx1"/>
          </a:solidFill>
          <a:ln w="12700">
            <a:solidFill>
              <a:schemeClr val="tx1"/>
            </a:solidFill>
            <a:prstDash val="solid"/>
          </a:ln>
        </p:spPr>
      </p:sp>
      <p:sp>
        <p:nvSpPr>
          <p:cNvPr id="57" name="Shape 55"/>
          <p:cNvSpPr/>
          <p:nvPr/>
        </p:nvSpPr>
        <p:spPr>
          <a:xfrm>
            <a:off x="4297680" y="1325880"/>
            <a:ext cx="246888" cy="246888"/>
          </a:xfrm>
          <a:prstGeom prst="rect">
            <a:avLst/>
          </a:prstGeom>
          <a:solidFill>
            <a:schemeClr val="tx1"/>
          </a:solidFill>
          <a:ln w="12700">
            <a:solidFill>
              <a:schemeClr val="tx1"/>
            </a:solidFill>
            <a:prstDash val="solid"/>
          </a:ln>
        </p:spPr>
      </p:sp>
      <p:sp>
        <p:nvSpPr>
          <p:cNvPr id="58" name="Shape 56"/>
          <p:cNvSpPr/>
          <p:nvPr/>
        </p:nvSpPr>
        <p:spPr>
          <a:xfrm>
            <a:off x="4572000" y="1325880"/>
            <a:ext cx="246888" cy="246888"/>
          </a:xfrm>
          <a:prstGeom prst="rect">
            <a:avLst/>
          </a:prstGeom>
          <a:solidFill>
            <a:schemeClr val="tx1"/>
          </a:solidFill>
          <a:ln w="12700">
            <a:solidFill>
              <a:schemeClr val="tx1"/>
            </a:solidFill>
            <a:prstDash val="solid"/>
          </a:ln>
        </p:spPr>
      </p:sp>
      <p:sp>
        <p:nvSpPr>
          <p:cNvPr id="59" name="Shape 57"/>
          <p:cNvSpPr/>
          <p:nvPr/>
        </p:nvSpPr>
        <p:spPr>
          <a:xfrm>
            <a:off x="4846320" y="1325880"/>
            <a:ext cx="246888" cy="246888"/>
          </a:xfrm>
          <a:prstGeom prst="rect">
            <a:avLst/>
          </a:prstGeom>
          <a:solidFill>
            <a:schemeClr val="tx1"/>
          </a:solidFill>
          <a:ln w="12700">
            <a:solidFill>
              <a:schemeClr val="tx1"/>
            </a:solidFill>
            <a:prstDash val="solid"/>
          </a:ln>
        </p:spPr>
      </p:sp>
      <p:sp>
        <p:nvSpPr>
          <p:cNvPr id="60" name="Shape 58"/>
          <p:cNvSpPr/>
          <p:nvPr/>
        </p:nvSpPr>
        <p:spPr>
          <a:xfrm>
            <a:off x="3749040" y="1600200"/>
            <a:ext cx="246888" cy="246888"/>
          </a:xfrm>
          <a:prstGeom prst="rect">
            <a:avLst/>
          </a:prstGeom>
          <a:solidFill>
            <a:schemeClr val="tx1"/>
          </a:solidFill>
          <a:ln w="12700">
            <a:solidFill>
              <a:schemeClr val="tx1"/>
            </a:solidFill>
            <a:prstDash val="solid"/>
          </a:ln>
        </p:spPr>
      </p:sp>
      <p:sp>
        <p:nvSpPr>
          <p:cNvPr id="61" name="Shape 59"/>
          <p:cNvSpPr/>
          <p:nvPr/>
        </p:nvSpPr>
        <p:spPr>
          <a:xfrm>
            <a:off x="4023360" y="1600200"/>
            <a:ext cx="246888" cy="246888"/>
          </a:xfrm>
          <a:prstGeom prst="rect">
            <a:avLst/>
          </a:prstGeom>
          <a:solidFill>
            <a:schemeClr val="bg2"/>
          </a:solidFill>
          <a:ln w="12700">
            <a:solidFill>
              <a:schemeClr val="bg2"/>
            </a:solidFill>
            <a:prstDash val="solid"/>
          </a:ln>
        </p:spPr>
      </p:sp>
      <p:sp>
        <p:nvSpPr>
          <p:cNvPr id="62" name="Shape 60"/>
          <p:cNvSpPr/>
          <p:nvPr/>
        </p:nvSpPr>
        <p:spPr>
          <a:xfrm>
            <a:off x="4297680" y="1600200"/>
            <a:ext cx="246888" cy="246888"/>
          </a:xfrm>
          <a:prstGeom prst="rect">
            <a:avLst/>
          </a:prstGeom>
          <a:solidFill>
            <a:schemeClr val="bg2"/>
          </a:solidFill>
          <a:ln w="12700">
            <a:solidFill>
              <a:schemeClr val="bg2"/>
            </a:solidFill>
            <a:prstDash val="solid"/>
          </a:ln>
        </p:spPr>
      </p:sp>
      <p:sp>
        <p:nvSpPr>
          <p:cNvPr id="63" name="Shape 61"/>
          <p:cNvSpPr/>
          <p:nvPr/>
        </p:nvSpPr>
        <p:spPr>
          <a:xfrm>
            <a:off x="4572000" y="1600200"/>
            <a:ext cx="246888" cy="246888"/>
          </a:xfrm>
          <a:prstGeom prst="rect">
            <a:avLst/>
          </a:prstGeom>
          <a:solidFill>
            <a:schemeClr val="bg2"/>
          </a:solidFill>
          <a:ln w="12700">
            <a:solidFill>
              <a:schemeClr val="bg2"/>
            </a:solidFill>
            <a:prstDash val="solid"/>
          </a:ln>
        </p:spPr>
      </p:sp>
      <p:sp>
        <p:nvSpPr>
          <p:cNvPr id="64" name="Shape 62"/>
          <p:cNvSpPr/>
          <p:nvPr/>
        </p:nvSpPr>
        <p:spPr>
          <a:xfrm>
            <a:off x="4846320" y="1600200"/>
            <a:ext cx="246888" cy="246888"/>
          </a:xfrm>
          <a:prstGeom prst="rect">
            <a:avLst/>
          </a:prstGeom>
          <a:solidFill>
            <a:schemeClr val="bg2"/>
          </a:solidFill>
          <a:ln w="12700">
            <a:solidFill>
              <a:schemeClr val="bg2"/>
            </a:solidFill>
            <a:prstDash val="solid"/>
          </a:ln>
        </p:spPr>
      </p:sp>
      <p:sp>
        <p:nvSpPr>
          <p:cNvPr id="65" name="Shape 63"/>
          <p:cNvSpPr/>
          <p:nvPr/>
        </p:nvSpPr>
        <p:spPr>
          <a:xfrm>
            <a:off x="3749040" y="1874520"/>
            <a:ext cx="246888" cy="246888"/>
          </a:xfrm>
          <a:prstGeom prst="rect">
            <a:avLst/>
          </a:prstGeom>
          <a:solidFill>
            <a:schemeClr val="tx1"/>
          </a:solidFill>
          <a:ln w="12700">
            <a:solidFill>
              <a:schemeClr val="tx1"/>
            </a:solidFill>
            <a:prstDash val="solid"/>
          </a:ln>
        </p:spPr>
      </p:sp>
      <p:sp>
        <p:nvSpPr>
          <p:cNvPr id="66" name="Shape 64"/>
          <p:cNvSpPr/>
          <p:nvPr/>
        </p:nvSpPr>
        <p:spPr>
          <a:xfrm>
            <a:off x="4023360" y="1874520"/>
            <a:ext cx="246888" cy="246888"/>
          </a:xfrm>
          <a:prstGeom prst="rect">
            <a:avLst/>
          </a:prstGeom>
          <a:solidFill>
            <a:schemeClr val="tx1"/>
          </a:solidFill>
          <a:ln w="12700">
            <a:solidFill>
              <a:schemeClr val="tx1"/>
            </a:solidFill>
            <a:prstDash val="solid"/>
          </a:ln>
        </p:spPr>
      </p:sp>
      <p:sp>
        <p:nvSpPr>
          <p:cNvPr id="67" name="Shape 65"/>
          <p:cNvSpPr/>
          <p:nvPr/>
        </p:nvSpPr>
        <p:spPr>
          <a:xfrm>
            <a:off x="4297680" y="1874520"/>
            <a:ext cx="246888" cy="246888"/>
          </a:xfrm>
          <a:prstGeom prst="rect">
            <a:avLst/>
          </a:prstGeom>
          <a:solidFill>
            <a:schemeClr val="tx1"/>
          </a:solidFill>
          <a:ln w="12700">
            <a:solidFill>
              <a:schemeClr val="tx1"/>
            </a:solidFill>
            <a:prstDash val="solid"/>
          </a:ln>
        </p:spPr>
      </p:sp>
      <p:sp>
        <p:nvSpPr>
          <p:cNvPr id="68" name="Shape 66"/>
          <p:cNvSpPr/>
          <p:nvPr/>
        </p:nvSpPr>
        <p:spPr>
          <a:xfrm>
            <a:off x="4572000" y="1874520"/>
            <a:ext cx="246888" cy="246888"/>
          </a:xfrm>
          <a:prstGeom prst="rect">
            <a:avLst/>
          </a:prstGeom>
          <a:solidFill>
            <a:schemeClr val="tx1"/>
          </a:solidFill>
          <a:ln w="12700">
            <a:solidFill>
              <a:schemeClr val="tx1"/>
            </a:solidFill>
            <a:prstDash val="solid"/>
          </a:ln>
        </p:spPr>
      </p:sp>
      <p:sp>
        <p:nvSpPr>
          <p:cNvPr id="69" name="Shape 67"/>
          <p:cNvSpPr/>
          <p:nvPr/>
        </p:nvSpPr>
        <p:spPr>
          <a:xfrm>
            <a:off x="4846320" y="1874520"/>
            <a:ext cx="246888" cy="246888"/>
          </a:xfrm>
          <a:prstGeom prst="rect">
            <a:avLst/>
          </a:prstGeom>
          <a:solidFill>
            <a:schemeClr val="tx1"/>
          </a:solidFill>
          <a:ln w="12700">
            <a:solidFill>
              <a:schemeClr val="tx1"/>
            </a:solidFill>
            <a:prstDash val="solid"/>
          </a:ln>
        </p:spPr>
      </p:sp>
      <p:sp>
        <p:nvSpPr>
          <p:cNvPr id="70" name="Shape 68"/>
          <p:cNvSpPr/>
          <p:nvPr/>
        </p:nvSpPr>
        <p:spPr>
          <a:xfrm>
            <a:off x="3749040" y="2148840"/>
            <a:ext cx="246888" cy="246888"/>
          </a:xfrm>
          <a:prstGeom prst="rect">
            <a:avLst/>
          </a:prstGeom>
          <a:solidFill>
            <a:schemeClr val="tx1"/>
          </a:solidFill>
          <a:ln w="12700">
            <a:solidFill>
              <a:schemeClr val="tx1"/>
            </a:solidFill>
            <a:prstDash val="solid"/>
          </a:ln>
        </p:spPr>
      </p:sp>
      <p:sp>
        <p:nvSpPr>
          <p:cNvPr id="71" name="Shape 69"/>
          <p:cNvSpPr/>
          <p:nvPr/>
        </p:nvSpPr>
        <p:spPr>
          <a:xfrm>
            <a:off x="4023360" y="2148840"/>
            <a:ext cx="246888" cy="246888"/>
          </a:xfrm>
          <a:prstGeom prst="rect">
            <a:avLst/>
          </a:prstGeom>
          <a:solidFill>
            <a:schemeClr val="bg2"/>
          </a:solidFill>
          <a:ln w="12700">
            <a:solidFill>
              <a:schemeClr val="bg2"/>
            </a:solidFill>
            <a:prstDash val="solid"/>
          </a:ln>
        </p:spPr>
      </p:sp>
      <p:sp>
        <p:nvSpPr>
          <p:cNvPr id="72" name="Shape 70"/>
          <p:cNvSpPr/>
          <p:nvPr/>
        </p:nvSpPr>
        <p:spPr>
          <a:xfrm>
            <a:off x="4297680" y="2148840"/>
            <a:ext cx="246888" cy="246888"/>
          </a:xfrm>
          <a:prstGeom prst="rect">
            <a:avLst/>
          </a:prstGeom>
          <a:solidFill>
            <a:schemeClr val="bg2"/>
          </a:solidFill>
          <a:ln w="12700">
            <a:solidFill>
              <a:schemeClr val="bg2"/>
            </a:solidFill>
            <a:prstDash val="solid"/>
          </a:ln>
        </p:spPr>
      </p:sp>
      <p:sp>
        <p:nvSpPr>
          <p:cNvPr id="73" name="Shape 71"/>
          <p:cNvSpPr/>
          <p:nvPr/>
        </p:nvSpPr>
        <p:spPr>
          <a:xfrm>
            <a:off x="4572000" y="2148840"/>
            <a:ext cx="246888" cy="246888"/>
          </a:xfrm>
          <a:prstGeom prst="rect">
            <a:avLst/>
          </a:prstGeom>
          <a:solidFill>
            <a:schemeClr val="bg2"/>
          </a:solidFill>
          <a:ln w="12700">
            <a:solidFill>
              <a:schemeClr val="bg2"/>
            </a:solidFill>
            <a:prstDash val="solid"/>
          </a:ln>
        </p:spPr>
      </p:sp>
      <p:sp>
        <p:nvSpPr>
          <p:cNvPr id="74" name="Shape 72"/>
          <p:cNvSpPr/>
          <p:nvPr/>
        </p:nvSpPr>
        <p:spPr>
          <a:xfrm>
            <a:off x="4846320" y="2148840"/>
            <a:ext cx="246888" cy="246888"/>
          </a:xfrm>
          <a:prstGeom prst="rect">
            <a:avLst/>
          </a:prstGeom>
          <a:solidFill>
            <a:schemeClr val="bg2"/>
          </a:solidFill>
          <a:ln w="12700">
            <a:solidFill>
              <a:schemeClr val="bg2"/>
            </a:solidFill>
            <a:prstDash val="solid"/>
          </a:ln>
        </p:spPr>
      </p:sp>
      <p:sp>
        <p:nvSpPr>
          <p:cNvPr id="75" name="Shape 73"/>
          <p:cNvSpPr/>
          <p:nvPr/>
        </p:nvSpPr>
        <p:spPr>
          <a:xfrm>
            <a:off x="3749040" y="2423160"/>
            <a:ext cx="246888" cy="246888"/>
          </a:xfrm>
          <a:prstGeom prst="rect">
            <a:avLst/>
          </a:prstGeom>
          <a:solidFill>
            <a:schemeClr val="tx1"/>
          </a:solidFill>
          <a:ln w="12700">
            <a:solidFill>
              <a:schemeClr val="tx1"/>
            </a:solidFill>
            <a:prstDash val="solid"/>
          </a:ln>
        </p:spPr>
      </p:sp>
      <p:sp>
        <p:nvSpPr>
          <p:cNvPr id="76" name="Shape 74"/>
          <p:cNvSpPr/>
          <p:nvPr/>
        </p:nvSpPr>
        <p:spPr>
          <a:xfrm>
            <a:off x="4023360" y="2423160"/>
            <a:ext cx="246888" cy="246888"/>
          </a:xfrm>
          <a:prstGeom prst="rect">
            <a:avLst/>
          </a:prstGeom>
          <a:solidFill>
            <a:schemeClr val="bg2"/>
          </a:solidFill>
          <a:ln w="12700">
            <a:solidFill>
              <a:schemeClr val="bg2"/>
            </a:solidFill>
            <a:prstDash val="solid"/>
          </a:ln>
        </p:spPr>
      </p:sp>
      <p:sp>
        <p:nvSpPr>
          <p:cNvPr id="77" name="Shape 75"/>
          <p:cNvSpPr/>
          <p:nvPr/>
        </p:nvSpPr>
        <p:spPr>
          <a:xfrm>
            <a:off x="4297680" y="2423160"/>
            <a:ext cx="246888" cy="246888"/>
          </a:xfrm>
          <a:prstGeom prst="rect">
            <a:avLst/>
          </a:prstGeom>
          <a:solidFill>
            <a:schemeClr val="bg2"/>
          </a:solidFill>
          <a:ln w="12700">
            <a:solidFill>
              <a:schemeClr val="bg2"/>
            </a:solidFill>
            <a:prstDash val="solid"/>
          </a:ln>
        </p:spPr>
      </p:sp>
      <p:sp>
        <p:nvSpPr>
          <p:cNvPr id="78" name="Shape 76"/>
          <p:cNvSpPr/>
          <p:nvPr/>
        </p:nvSpPr>
        <p:spPr>
          <a:xfrm>
            <a:off x="4572000" y="2423160"/>
            <a:ext cx="246888" cy="246888"/>
          </a:xfrm>
          <a:prstGeom prst="rect">
            <a:avLst/>
          </a:prstGeom>
          <a:solidFill>
            <a:schemeClr val="bg2"/>
          </a:solidFill>
          <a:ln w="12700">
            <a:solidFill>
              <a:schemeClr val="bg2"/>
            </a:solidFill>
            <a:prstDash val="solid"/>
          </a:ln>
        </p:spPr>
      </p:sp>
      <p:sp>
        <p:nvSpPr>
          <p:cNvPr id="79" name="Shape 77"/>
          <p:cNvSpPr/>
          <p:nvPr/>
        </p:nvSpPr>
        <p:spPr>
          <a:xfrm>
            <a:off x="4846320" y="2423160"/>
            <a:ext cx="246888" cy="246888"/>
          </a:xfrm>
          <a:prstGeom prst="rect">
            <a:avLst/>
          </a:prstGeom>
          <a:solidFill>
            <a:schemeClr val="bg2"/>
          </a:solidFill>
          <a:ln w="12700">
            <a:solidFill>
              <a:schemeClr val="bg2"/>
            </a:solidFill>
            <a:prstDash val="solid"/>
          </a:ln>
        </p:spPr>
      </p:sp>
      <p:sp>
        <p:nvSpPr>
          <p:cNvPr id="80" name="Text 78"/>
          <p:cNvSpPr txBox="1"/>
          <p:nvPr/>
        </p:nvSpPr>
        <p:spPr>
          <a:xfrm>
            <a:off x="3749040" y="2788920"/>
            <a:ext cx="1344168" cy="365760"/>
          </a:xfrm>
          <a:prstGeom prst="rect">
            <a:avLst/>
          </a:prstGeom>
          <a:noFill/>
          <a:ln/>
        </p:spPr>
        <p:txBody>
          <a:bodyPr wrap="square" lIns="0" tIns="0" rIns="0" bIns="0" rtlCol="0" anchor="t"/>
          <a:lstStyle/>
          <a:p>
            <a:pPr algn="ctr" indent="0" marL="0">
              <a:buNone/>
            </a:pPr>
            <a:r>
              <a:rPr lang="en-US" sz="1800" b="1" dirty="0">
                <a:solidFill>
                  <a:schemeClr val="tx1"/>
                </a:solidFill>
                <a:latin typeface="Cambria" pitchFamily="34" charset="0"/>
                <a:ea typeface="Cambria" pitchFamily="34" charset="-122"/>
                <a:cs typeface="Cambria" pitchFamily="34" charset="-120"/>
              </a:rPr>
              <a:t>F</a:t>
            </a:r>
            <a:endParaRPr lang="en-US" sz="1800" dirty="0"/>
          </a:p>
        </p:txBody>
      </p:sp>
      <p:sp>
        <p:nvSpPr>
          <p:cNvPr id="81" name="Text 79"/>
          <p:cNvSpPr txBox="1"/>
          <p:nvPr/>
        </p:nvSpPr>
        <p:spPr>
          <a:xfrm>
            <a:off x="5394960" y="1280160"/>
            <a:ext cx="3291840" cy="960120"/>
          </a:xfrm>
          <a:prstGeom prst="rect">
            <a:avLst/>
          </a:prstGeom>
          <a:noFill/>
          <a:ln/>
        </p:spPr>
        <p:txBody>
          <a:bodyPr wrap="square" lIns="0" tIns="0" rIns="0" bIns="0" rtlCol="0" anchor="t"/>
          <a:lstStyle/>
          <a:p>
            <a:pPr indent="0" marL="0">
              <a:buNone/>
            </a:pPr>
            <a:r>
              <a:rPr lang="en-US" sz="1500" b="1" dirty="0">
                <a:solidFill>
                  <a:schemeClr val="accent1"/>
                </a:solidFill>
              </a:rPr>
              <a:t>ρ = 0.9  </a:t>
            </a:r>
            <a:pPr indent="0" marL="0">
              <a:buNone/>
            </a:pPr>
            <a:r>
              <a:rPr lang="en-US" sz="1500" dirty="0">
                <a:solidFill>
                  <a:schemeClr val="tx1"/>
                </a:solidFill>
              </a:rPr>
              <a:t>Tres categorías: una por letra.</a:t>
            </a:r>
            <a:endParaRPr lang="en-US" sz="1500" dirty="0"/>
          </a:p>
        </p:txBody>
      </p:sp>
      <p:sp>
        <p:nvSpPr>
          <p:cNvPr id="82" name="Text 80"/>
          <p:cNvSpPr txBox="1"/>
          <p:nvPr/>
        </p:nvSpPr>
        <p:spPr>
          <a:xfrm>
            <a:off x="5394960" y="1828800"/>
            <a:ext cx="3291840" cy="960120"/>
          </a:xfrm>
          <a:prstGeom prst="rect">
            <a:avLst/>
          </a:prstGeom>
          <a:noFill/>
          <a:ln/>
        </p:spPr>
        <p:txBody>
          <a:bodyPr wrap="square" lIns="0" tIns="0" rIns="0" bIns="0" rtlCol="0" anchor="t"/>
          <a:lstStyle/>
          <a:p>
            <a:pPr indent="0" marL="0">
              <a:buNone/>
            </a:pPr>
            <a:r>
              <a:rPr lang="en-US" sz="1500" b="1" dirty="0">
                <a:solidFill>
                  <a:schemeClr val="accent1"/>
                </a:solidFill>
              </a:rPr>
              <a:t>ρ = 0.8  </a:t>
            </a:r>
            <a:pPr indent="0" marL="0">
              <a:buNone/>
            </a:pPr>
            <a:r>
              <a:rPr lang="en-US" sz="1500" dirty="0">
                <a:solidFill>
                  <a:schemeClr val="tx1"/>
                </a:solidFill>
              </a:rPr>
              <a:t>C y E se fusionan: E comparte 13 de sus 15 píxeles con C y el AND deja el prototipo igual a C.</a:t>
            </a:r>
            <a:endParaRPr lang="en-US" sz="1500" dirty="0"/>
          </a:p>
        </p:txBody>
      </p:sp>
      <p:sp>
        <p:nvSpPr>
          <p:cNvPr id="83" name="Text 81"/>
          <p:cNvSpPr txBox="1"/>
          <p:nvPr/>
        </p:nvSpPr>
        <p:spPr>
          <a:xfrm>
            <a:off x="5394960" y="2880360"/>
            <a:ext cx="3291840" cy="960120"/>
          </a:xfrm>
          <a:prstGeom prst="rect">
            <a:avLst/>
          </a:prstGeom>
          <a:noFill/>
          <a:ln/>
        </p:spPr>
        <p:txBody>
          <a:bodyPr wrap="square" lIns="0" tIns="0" rIns="0" bIns="0" rtlCol="0" anchor="t"/>
          <a:lstStyle/>
          <a:p>
            <a:pPr indent="0" marL="0">
              <a:buNone/>
            </a:pPr>
            <a:r>
              <a:rPr lang="en-US" sz="1500" b="1" dirty="0">
                <a:solidFill>
                  <a:schemeClr val="accent1"/>
                </a:solidFill>
              </a:rPr>
              <a:t>F con ruido  </a:t>
            </a:r>
            <a:pPr indent="0" marL="0">
              <a:buNone/>
            </a:pPr>
            <a:r>
              <a:rPr lang="en-US" sz="1500" dirty="0">
                <a:solidFill>
                  <a:schemeClr val="tx1"/>
                </a:solidFill>
              </a:rPr>
              <a:t>Una F con un píxel menos se acepta, y el AND borra ese píxel del prototipo para siempre.</a:t>
            </a:r>
            <a:endParaRPr lang="en-US" sz="1500" dirty="0"/>
          </a:p>
        </p:txBody>
      </p:sp>
      <p:sp>
        <p:nvSpPr>
          <p:cNvPr id="84" name="Text 82"/>
          <p:cNvSpPr txBox="1"/>
          <p:nvPr/>
        </p:nvSpPr>
        <p:spPr>
          <a:xfrm>
            <a:off x="548640" y="3383280"/>
            <a:ext cx="4572000" cy="731520"/>
          </a:xfrm>
          <a:prstGeom prst="rect">
            <a:avLst/>
          </a:prstGeom>
          <a:noFill/>
          <a:ln/>
        </p:spPr>
        <p:txBody>
          <a:bodyPr wrap="square" lIns="0" tIns="0" rIns="0" bIns="0" rtlCol="0" anchor="t"/>
          <a:lstStyle/>
          <a:p>
            <a:pPr indent="0" marL="0">
              <a:buNone/>
            </a:pPr>
            <a:r>
              <a:rPr lang="en-US" sz="1400" i="1" dirty="0">
                <a:solidFill>
                  <a:schemeClr val="accent5"/>
                </a:solidFill>
              </a:rPr>
              <a:t>Lo verificamos con pruebas automáticas sobre nuestra implementación.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La vigilancia ρ decide qué es «parecido»</a:t>
            </a:r>
            <a:endParaRPr lang="en-US" sz="3000" dirty="0"/>
          </a:p>
        </p:txBody>
      </p:sp>
      <p:sp>
        <p:nvSpPr>
          <p:cNvPr id="3" name="Shape 1"/>
          <p:cNvSpPr/>
          <p:nvPr/>
        </p:nvSpPr>
        <p:spPr>
          <a:xfrm>
            <a:off x="457200" y="1234440"/>
            <a:ext cx="3977640" cy="2697480"/>
          </a:xfrm>
          <a:prstGeom prst="roundRect">
            <a:avLst>
              <a:gd name="adj" fmla="val 4068"/>
            </a:avLst>
          </a:prstGeom>
          <a:solidFill>
            <a:schemeClr val="bg2"/>
          </a:solidFill>
          <a:ln w="12700">
            <a:solidFill>
              <a:schemeClr val="bg2"/>
            </a:solidFill>
            <a:prstDash val="solid"/>
          </a:ln>
        </p:spPr>
      </p:sp>
      <p:sp>
        <p:nvSpPr>
          <p:cNvPr id="4" name="Text 2"/>
          <p:cNvSpPr txBox="1"/>
          <p:nvPr/>
        </p:nvSpPr>
        <p:spPr>
          <a:xfrm>
            <a:off x="731520" y="1417320"/>
            <a:ext cx="1463040" cy="1005840"/>
          </a:xfrm>
          <a:prstGeom prst="rect">
            <a:avLst/>
          </a:prstGeom>
          <a:noFill/>
          <a:ln/>
        </p:spPr>
        <p:txBody>
          <a:bodyPr wrap="square" lIns="0" tIns="0" rIns="0" bIns="0" rtlCol="0" anchor="t"/>
          <a:lstStyle/>
          <a:p>
            <a:pPr indent="0" marL="0">
              <a:buNone/>
            </a:pPr>
            <a:r>
              <a:rPr lang="en-US" sz="6600" b="1" dirty="0">
                <a:solidFill>
                  <a:schemeClr val="accent1"/>
                </a:solidFill>
                <a:latin typeface="Cambria" pitchFamily="34" charset="0"/>
                <a:ea typeface="Cambria" pitchFamily="34" charset="-122"/>
                <a:cs typeface="Cambria" pitchFamily="34" charset="-120"/>
              </a:rPr>
              <a:t>2</a:t>
            </a:r>
            <a:endParaRPr lang="en-US" sz="6600" dirty="0"/>
          </a:p>
        </p:txBody>
      </p:sp>
      <p:sp>
        <p:nvSpPr>
          <p:cNvPr id="5" name="Text 3"/>
          <p:cNvSpPr txBox="1"/>
          <p:nvPr/>
        </p:nvSpPr>
        <p:spPr>
          <a:xfrm>
            <a:off x="1828800" y="1874520"/>
            <a:ext cx="2468880" cy="457200"/>
          </a:xfrm>
          <a:prstGeom prst="rect">
            <a:avLst/>
          </a:prstGeom>
          <a:noFill/>
          <a:ln/>
        </p:spPr>
        <p:txBody>
          <a:bodyPr wrap="square" lIns="0" tIns="0" rIns="0" bIns="0" rtlCol="0" anchor="t"/>
          <a:lstStyle/>
          <a:p>
            <a:pPr indent="0" marL="0">
              <a:buNone/>
            </a:pPr>
            <a:r>
              <a:rPr lang="en-US" sz="1800" b="1" dirty="0">
                <a:solidFill>
                  <a:schemeClr val="tx1"/>
                </a:solidFill>
              </a:rPr>
              <a:t>categorías con ρ = 0.3</a:t>
            </a:r>
            <a:endParaRPr lang="en-US" sz="1800" dirty="0"/>
          </a:p>
        </p:txBody>
      </p:sp>
      <p:sp>
        <p:nvSpPr>
          <p:cNvPr id="6" name="Text 4"/>
          <p:cNvSpPr txBox="1"/>
          <p:nvPr/>
        </p:nvSpPr>
        <p:spPr>
          <a:xfrm>
            <a:off x="731520" y="2560320"/>
            <a:ext cx="3474720" cy="1280160"/>
          </a:xfrm>
          <a:prstGeom prst="rect">
            <a:avLst/>
          </a:prstGeom>
          <a:noFill/>
          <a:ln/>
        </p:spPr>
        <p:txBody>
          <a:bodyPr wrap="square" lIns="0" tIns="0" rIns="0" bIns="0" rtlCol="0" anchor="t"/>
          <a:lstStyle/>
          <a:p>
            <a:pPr indent="0" marL="0">
              <a:buNone/>
            </a:pPr>
            <a:r>
              <a:rPr lang="en-US" sz="1500" dirty="0">
                <a:solidFill>
                  <a:schemeClr val="tx1"/>
                </a:solidFill>
              </a:rPr>
              <a:t>Vigilancia baja: la red es tolerante y agrupa patrones distintos en pocas categorías amplias. Puede esconder una anomalía dentro de lo normal.</a:t>
            </a:r>
            <a:endParaRPr lang="en-US" sz="1500" dirty="0"/>
          </a:p>
        </p:txBody>
      </p:sp>
      <p:sp>
        <p:nvSpPr>
          <p:cNvPr id="7" name="Shape 5"/>
          <p:cNvSpPr/>
          <p:nvPr/>
        </p:nvSpPr>
        <p:spPr>
          <a:xfrm>
            <a:off x="4709160" y="1234440"/>
            <a:ext cx="3977640" cy="2697480"/>
          </a:xfrm>
          <a:prstGeom prst="roundRect">
            <a:avLst>
              <a:gd name="adj" fmla="val 4068"/>
            </a:avLst>
          </a:prstGeom>
          <a:solidFill>
            <a:schemeClr val="bg2"/>
          </a:solidFill>
          <a:ln w="12700">
            <a:solidFill>
              <a:schemeClr val="bg2"/>
            </a:solidFill>
            <a:prstDash val="solid"/>
          </a:ln>
        </p:spPr>
      </p:sp>
      <p:sp>
        <p:nvSpPr>
          <p:cNvPr id="8" name="Text 6"/>
          <p:cNvSpPr txBox="1"/>
          <p:nvPr/>
        </p:nvSpPr>
        <p:spPr>
          <a:xfrm>
            <a:off x="4983480" y="1417320"/>
            <a:ext cx="1463040" cy="1005840"/>
          </a:xfrm>
          <a:prstGeom prst="rect">
            <a:avLst/>
          </a:prstGeom>
          <a:noFill/>
          <a:ln/>
        </p:spPr>
        <p:txBody>
          <a:bodyPr wrap="square" lIns="0" tIns="0" rIns="0" bIns="0" rtlCol="0" anchor="t"/>
          <a:lstStyle/>
          <a:p>
            <a:pPr indent="0" marL="0">
              <a:buNone/>
            </a:pPr>
            <a:r>
              <a:rPr lang="en-US" sz="6600" b="1" dirty="0">
                <a:solidFill>
                  <a:schemeClr val="accent4"/>
                </a:solidFill>
                <a:latin typeface="Cambria" pitchFamily="34" charset="0"/>
                <a:ea typeface="Cambria" pitchFamily="34" charset="-122"/>
                <a:cs typeface="Cambria" pitchFamily="34" charset="-120"/>
              </a:rPr>
              <a:t>7</a:t>
            </a:r>
            <a:endParaRPr lang="en-US" sz="6600" dirty="0"/>
          </a:p>
        </p:txBody>
      </p:sp>
      <p:sp>
        <p:nvSpPr>
          <p:cNvPr id="9" name="Text 7"/>
          <p:cNvSpPr txBox="1"/>
          <p:nvPr/>
        </p:nvSpPr>
        <p:spPr>
          <a:xfrm>
            <a:off x="6080760" y="1874520"/>
            <a:ext cx="2468880" cy="457200"/>
          </a:xfrm>
          <a:prstGeom prst="rect">
            <a:avLst/>
          </a:prstGeom>
          <a:noFill/>
          <a:ln/>
        </p:spPr>
        <p:txBody>
          <a:bodyPr wrap="square" lIns="0" tIns="0" rIns="0" bIns="0" rtlCol="0" anchor="t"/>
          <a:lstStyle/>
          <a:p>
            <a:pPr indent="0" marL="0">
              <a:buNone/>
            </a:pPr>
            <a:r>
              <a:rPr lang="en-US" sz="1800" b="1" dirty="0">
                <a:solidFill>
                  <a:schemeClr val="tx1"/>
                </a:solidFill>
              </a:rPr>
              <a:t>categorías con ρ = 0.9</a:t>
            </a:r>
            <a:endParaRPr lang="en-US" sz="1800" dirty="0"/>
          </a:p>
        </p:txBody>
      </p:sp>
      <p:sp>
        <p:nvSpPr>
          <p:cNvPr id="10" name="Text 8"/>
          <p:cNvSpPr txBox="1"/>
          <p:nvPr/>
        </p:nvSpPr>
        <p:spPr>
          <a:xfrm>
            <a:off x="4983480" y="2560320"/>
            <a:ext cx="3474720" cy="1280160"/>
          </a:xfrm>
          <a:prstGeom prst="rect">
            <a:avLst/>
          </a:prstGeom>
          <a:noFill/>
          <a:ln/>
        </p:spPr>
        <p:txBody>
          <a:bodyPr wrap="square" lIns="0" tIns="0" rIns="0" bIns="0" rtlCol="0" anchor="t"/>
          <a:lstStyle/>
          <a:p>
            <a:pPr indent="0" marL="0">
              <a:buNone/>
            </a:pPr>
            <a:r>
              <a:rPr lang="en-US" sz="1500" dirty="0">
                <a:solidFill>
                  <a:schemeClr val="tx1"/>
                </a:solidFill>
              </a:rPr>
              <a:t>Vigilancia alta: la red exige coincidencias casi exactas y crea muchas categorías específicas. Con ruido, se multiplican.</a:t>
            </a:r>
            <a:endParaRPr lang="en-US" sz="1500" dirty="0"/>
          </a:p>
        </p:txBody>
      </p:sp>
      <p:sp>
        <p:nvSpPr>
          <p:cNvPr id="11" name="Text 9"/>
          <p:cNvSpPr txBox="1"/>
          <p:nvPr/>
        </p:nvSpPr>
        <p:spPr>
          <a:xfrm>
            <a:off x="457200" y="4069080"/>
            <a:ext cx="8229600" cy="274320"/>
          </a:xfrm>
          <a:prstGeom prst="rect">
            <a:avLst/>
          </a:prstGeom>
          <a:noFill/>
          <a:ln/>
        </p:spPr>
        <p:txBody>
          <a:bodyPr wrap="square" lIns="0" tIns="0" rIns="0" bIns="0" rtlCol="0" anchor="t"/>
          <a:lstStyle/>
          <a:p>
            <a:pPr indent="0" marL="0">
              <a:buNone/>
            </a:pPr>
            <a:r>
              <a:rPr lang="en-US" sz="1200" i="1" dirty="0">
                <a:solidFill>
                  <a:schemeClr val="accent5"/>
                </a:solidFill>
              </a:rPr>
              <a:t>Mismo dataset de estrés (100 registros), dos vigilancias distintas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Nuestro caso: los estados de un servidor</a:t>
            </a:r>
            <a:endParaRPr lang="en-US" sz="3000" dirty="0"/>
          </a:p>
        </p:txBody>
      </p:sp>
      <p:sp>
        <p:nvSpPr>
          <p:cNvPr id="3" name="neurona"/>
          <p:cNvSpPr/>
          <p:nvPr/>
        </p:nvSpPr>
        <p:spPr>
          <a:xfrm>
            <a:off x="1005840" y="1280160"/>
            <a:ext cx="777240" cy="77724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1200150" y="1474470"/>
            <a:ext cx="388620" cy="388620"/>
          </a:xfrm>
          <a:prstGeom prst="rect">
            <a:avLst/>
          </a:prstGeom>
        </p:spPr>
      </p:pic>
      <p:sp>
        <p:nvSpPr>
          <p:cNvPr id="5" name="Shape 2"/>
          <p:cNvSpPr/>
          <p:nvPr/>
        </p:nvSpPr>
        <p:spPr>
          <a:xfrm>
            <a:off x="2011680" y="1536192"/>
            <a:ext cx="411480" cy="274320"/>
          </a:xfrm>
          <a:prstGeom prst="rightArrow">
            <a:avLst/>
          </a:prstGeom>
          <a:solidFill>
            <a:schemeClr val="accent5"/>
          </a:solidFill>
          <a:ln w="12700">
            <a:solidFill>
              <a:schemeClr val="accent5"/>
            </a:solidFill>
            <a:prstDash val="solid"/>
          </a:ln>
        </p:spPr>
      </p:sp>
      <p:sp>
        <p:nvSpPr>
          <p:cNvPr id="6" name="Text 3"/>
          <p:cNvSpPr txBox="1"/>
          <p:nvPr/>
        </p:nvSpPr>
        <p:spPr>
          <a:xfrm>
            <a:off x="457200" y="2240280"/>
            <a:ext cx="1874520" cy="365760"/>
          </a:xfrm>
          <a:prstGeom prst="rect">
            <a:avLst/>
          </a:prstGeom>
          <a:noFill/>
          <a:ln/>
        </p:spPr>
        <p:txBody>
          <a:bodyPr wrap="square" lIns="0" tIns="0" rIns="0" bIns="0" rtlCol="0" anchor="t"/>
          <a:lstStyle/>
          <a:p>
            <a:pPr algn="ctr" indent="0" marL="0">
              <a:buNone/>
            </a:pPr>
            <a:r>
              <a:rPr lang="en-US" sz="1700" b="1" dirty="0">
                <a:solidFill>
                  <a:schemeClr val="tx1"/>
                </a:solidFill>
              </a:rPr>
              <a:t>2243 registros</a:t>
            </a:r>
            <a:endParaRPr lang="en-US" sz="1700" dirty="0"/>
          </a:p>
        </p:txBody>
      </p:sp>
      <p:sp>
        <p:nvSpPr>
          <p:cNvPr id="7" name="Text 4"/>
          <p:cNvSpPr txBox="1"/>
          <p:nvPr/>
        </p:nvSpPr>
        <p:spPr>
          <a:xfrm>
            <a:off x="457200" y="2651760"/>
            <a:ext cx="1874520" cy="1554480"/>
          </a:xfrm>
          <a:prstGeom prst="rect">
            <a:avLst/>
          </a:prstGeom>
          <a:noFill/>
          <a:ln/>
        </p:spPr>
        <p:txBody>
          <a:bodyPr wrap="square" lIns="0" tIns="0" rIns="0" bIns="0" rtlCol="0" anchor="t"/>
          <a:lstStyle/>
          <a:p>
            <a:pPr algn="ctr" indent="0" marL="0">
              <a:buNone/>
            </a:pPr>
            <a:r>
              <a:rPr lang="en-US" sz="1400" dirty="0">
                <a:solidFill>
                  <a:schemeClr val="tx1"/>
                </a:solidFill>
              </a:rPr>
              <a:t>Telemetría cada 5 minutos durante 8 días: CPU, memoria, disco, red entrante y saliente.</a:t>
            </a:r>
            <a:endParaRPr lang="en-US" sz="1400" dirty="0"/>
          </a:p>
        </p:txBody>
      </p:sp>
      <p:sp>
        <p:nvSpPr>
          <p:cNvPr id="8" name="neurona"/>
          <p:cNvSpPr/>
          <p:nvPr/>
        </p:nvSpPr>
        <p:spPr>
          <a:xfrm>
            <a:off x="3108960" y="1280160"/>
            <a:ext cx="777240" cy="777240"/>
          </a:xfrm>
          <a:prstGeom prst="ellipse">
            <a:avLst/>
          </a:prstGeom>
          <a:solidFill>
            <a:schemeClr val="accent1"/>
          </a:solidFill>
          <a:ln w="12700">
            <a:solidFill>
              <a:schemeClr val="accent1"/>
            </a:solidFill>
            <a:prstDash val="solid"/>
          </a:ln>
        </p:spPr>
      </p:sp>
      <p:pic>
        <p:nvPicPr>
          <p:cNvPr id="9" name="Image 1" descr="preencoded.png">    </p:cNvPr>
          <p:cNvPicPr>
            <a:picLocks noChangeAspect="1"/>
          </p:cNvPicPr>
          <p:nvPr/>
        </p:nvPicPr>
        <p:blipFill>
          <a:blip r:embed="rId2"/>
          <a:stretch>
            <a:fillRect/>
          </a:stretch>
        </p:blipFill>
        <p:spPr>
          <a:xfrm>
            <a:off x="3303270" y="1474470"/>
            <a:ext cx="388620" cy="388620"/>
          </a:xfrm>
          <a:prstGeom prst="rect">
            <a:avLst/>
          </a:prstGeom>
        </p:spPr>
      </p:pic>
      <p:sp>
        <p:nvSpPr>
          <p:cNvPr id="10" name="Shape 6"/>
          <p:cNvSpPr/>
          <p:nvPr/>
        </p:nvSpPr>
        <p:spPr>
          <a:xfrm>
            <a:off x="4114800" y="1536192"/>
            <a:ext cx="411480" cy="274320"/>
          </a:xfrm>
          <a:prstGeom prst="rightArrow">
            <a:avLst/>
          </a:prstGeom>
          <a:solidFill>
            <a:schemeClr val="accent5"/>
          </a:solidFill>
          <a:ln w="12700">
            <a:solidFill>
              <a:schemeClr val="accent5"/>
            </a:solidFill>
            <a:prstDash val="solid"/>
          </a:ln>
        </p:spPr>
      </p:sp>
      <p:sp>
        <p:nvSpPr>
          <p:cNvPr id="11" name="Text 7"/>
          <p:cNvSpPr txBox="1"/>
          <p:nvPr/>
        </p:nvSpPr>
        <p:spPr>
          <a:xfrm>
            <a:off x="2560320" y="2240280"/>
            <a:ext cx="1874520" cy="365760"/>
          </a:xfrm>
          <a:prstGeom prst="rect">
            <a:avLst/>
          </a:prstGeom>
          <a:noFill/>
          <a:ln/>
        </p:spPr>
        <p:txBody>
          <a:bodyPr wrap="square" lIns="0" tIns="0" rIns="0" bIns="0" rtlCol="0" anchor="t"/>
          <a:lstStyle/>
          <a:p>
            <a:pPr algn="ctr" indent="0" marL="0">
              <a:buNone/>
            </a:pPr>
            <a:r>
              <a:rPr lang="en-US" sz="1700" b="1" dirty="0">
                <a:solidFill>
                  <a:schemeClr val="tx1"/>
                </a:solidFill>
              </a:rPr>
              <a:t>5 alertas binarias</a:t>
            </a:r>
            <a:endParaRPr lang="en-US" sz="1700" dirty="0"/>
          </a:p>
        </p:txBody>
      </p:sp>
      <p:sp>
        <p:nvSpPr>
          <p:cNvPr id="12" name="Text 8"/>
          <p:cNvSpPr txBox="1"/>
          <p:nvPr/>
        </p:nvSpPr>
        <p:spPr>
          <a:xfrm>
            <a:off x="2560320" y="2651760"/>
            <a:ext cx="1874520" cy="1554480"/>
          </a:xfrm>
          <a:prstGeom prst="rect">
            <a:avLst/>
          </a:prstGeom>
          <a:noFill/>
          <a:ln/>
        </p:spPr>
        <p:txBody>
          <a:bodyPr wrap="square" lIns="0" tIns="0" rIns="0" bIns="0" rtlCol="0" anchor="t"/>
          <a:lstStyle/>
          <a:p>
            <a:pPr algn="ctr" indent="0" marL="0">
              <a:buNone/>
            </a:pPr>
            <a:r>
              <a:rPr lang="en-US" sz="1400" dirty="0">
                <a:solidFill>
                  <a:schemeClr val="tx1"/>
                </a:solidFill>
              </a:rPr>
              <a:t>Cada métrica vale 1 si supera su percentil 90 del período.</a:t>
            </a:r>
            <a:endParaRPr lang="en-US" sz="1400" dirty="0"/>
          </a:p>
        </p:txBody>
      </p:sp>
      <p:sp>
        <p:nvSpPr>
          <p:cNvPr id="13" name="neurona"/>
          <p:cNvSpPr/>
          <p:nvPr/>
        </p:nvSpPr>
        <p:spPr>
          <a:xfrm>
            <a:off x="5212080" y="1280160"/>
            <a:ext cx="777240" cy="777240"/>
          </a:xfrm>
          <a:prstGeom prst="ellipse">
            <a:avLst/>
          </a:prstGeom>
          <a:solidFill>
            <a:schemeClr val="accent1"/>
          </a:solidFill>
          <a:ln w="12700">
            <a:solidFill>
              <a:schemeClr val="accent1"/>
            </a:solidFill>
            <a:prstDash val="solid"/>
          </a:ln>
        </p:spPr>
      </p:sp>
      <p:pic>
        <p:nvPicPr>
          <p:cNvPr id="14" name="Image 2" descr="preencoded.png">    </p:cNvPr>
          <p:cNvPicPr>
            <a:picLocks noChangeAspect="1"/>
          </p:cNvPicPr>
          <p:nvPr/>
        </p:nvPicPr>
        <p:blipFill>
          <a:blip r:embed="rId3"/>
          <a:stretch>
            <a:fillRect/>
          </a:stretch>
        </p:blipFill>
        <p:spPr>
          <a:xfrm>
            <a:off x="5406390" y="1474470"/>
            <a:ext cx="388620" cy="388620"/>
          </a:xfrm>
          <a:prstGeom prst="rect">
            <a:avLst/>
          </a:prstGeom>
        </p:spPr>
      </p:pic>
      <p:sp>
        <p:nvSpPr>
          <p:cNvPr id="15" name="Shape 10"/>
          <p:cNvSpPr/>
          <p:nvPr/>
        </p:nvSpPr>
        <p:spPr>
          <a:xfrm>
            <a:off x="6217920" y="1536192"/>
            <a:ext cx="411480" cy="274320"/>
          </a:xfrm>
          <a:prstGeom prst="rightArrow">
            <a:avLst/>
          </a:prstGeom>
          <a:solidFill>
            <a:schemeClr val="accent5"/>
          </a:solidFill>
          <a:ln w="12700">
            <a:solidFill>
              <a:schemeClr val="accent5"/>
            </a:solidFill>
            <a:prstDash val="solid"/>
          </a:ln>
        </p:spPr>
      </p:sp>
      <p:sp>
        <p:nvSpPr>
          <p:cNvPr id="16" name="Text 11"/>
          <p:cNvSpPr txBox="1"/>
          <p:nvPr/>
        </p:nvSpPr>
        <p:spPr>
          <a:xfrm>
            <a:off x="4663440" y="2240280"/>
            <a:ext cx="1874520" cy="365760"/>
          </a:xfrm>
          <a:prstGeom prst="rect">
            <a:avLst/>
          </a:prstGeom>
          <a:noFill/>
          <a:ln/>
        </p:spPr>
        <p:txBody>
          <a:bodyPr wrap="square" lIns="0" tIns="0" rIns="0" bIns="0" rtlCol="0" anchor="t"/>
          <a:lstStyle/>
          <a:p>
            <a:pPr algn="ctr" indent="0" marL="0">
              <a:buNone/>
            </a:pPr>
            <a:r>
              <a:rPr lang="en-US" sz="1700" b="1" dirty="0">
                <a:solidFill>
                  <a:schemeClr val="tx1"/>
                </a:solidFill>
              </a:rPr>
              <a:t>609 con actividad</a:t>
            </a:r>
            <a:endParaRPr lang="en-US" sz="1700" dirty="0"/>
          </a:p>
        </p:txBody>
      </p:sp>
      <p:sp>
        <p:nvSpPr>
          <p:cNvPr id="17" name="Text 12"/>
          <p:cNvSpPr txBox="1"/>
          <p:nvPr/>
        </p:nvSpPr>
        <p:spPr>
          <a:xfrm>
            <a:off x="4663440" y="2651760"/>
            <a:ext cx="1874520" cy="1554480"/>
          </a:xfrm>
          <a:prstGeom prst="rect">
            <a:avLst/>
          </a:prstGeom>
          <a:noFill/>
          <a:ln/>
        </p:spPr>
        <p:txBody>
          <a:bodyPr wrap="square" lIns="0" tIns="0" rIns="0" bIns="0" rtlCol="0" anchor="t"/>
          <a:lstStyle/>
          <a:p>
            <a:pPr algn="ctr" indent="0" marL="0">
              <a:buNone/>
            </a:pPr>
            <a:r>
              <a:rPr lang="en-US" sz="1400" dirty="0">
                <a:solidFill>
                  <a:schemeClr val="tx1"/>
                </a:solidFill>
              </a:rPr>
              <a:t>Se descartan los registros sin alertas: el vector nulo no se puede procesar.</a:t>
            </a:r>
            <a:endParaRPr lang="en-US" sz="1400" dirty="0"/>
          </a:p>
        </p:txBody>
      </p:sp>
      <p:sp>
        <p:nvSpPr>
          <p:cNvPr id="18" name="neurona"/>
          <p:cNvSpPr/>
          <p:nvPr/>
        </p:nvSpPr>
        <p:spPr>
          <a:xfrm>
            <a:off x="7315200" y="1280160"/>
            <a:ext cx="777240" cy="777240"/>
          </a:xfrm>
          <a:prstGeom prst="ellipse">
            <a:avLst/>
          </a:prstGeom>
          <a:solidFill>
            <a:schemeClr val="accent2"/>
          </a:solidFill>
          <a:ln w="12700">
            <a:solidFill>
              <a:schemeClr val="accent2"/>
            </a:solidFill>
            <a:prstDash val="solid"/>
          </a:ln>
        </p:spPr>
      </p:sp>
      <p:pic>
        <p:nvPicPr>
          <p:cNvPr id="19" name="Image 3" descr="preencoded.png">    </p:cNvPr>
          <p:cNvPicPr>
            <a:picLocks noChangeAspect="1"/>
          </p:cNvPicPr>
          <p:nvPr/>
        </p:nvPicPr>
        <p:blipFill>
          <a:blip r:embed="rId4"/>
          <a:stretch>
            <a:fillRect/>
          </a:stretch>
        </p:blipFill>
        <p:spPr>
          <a:xfrm>
            <a:off x="7509510" y="1474470"/>
            <a:ext cx="388620" cy="388620"/>
          </a:xfrm>
          <a:prstGeom prst="rect">
            <a:avLst/>
          </a:prstGeom>
        </p:spPr>
      </p:pic>
      <p:sp>
        <p:nvSpPr>
          <p:cNvPr id="20" name="Text 14"/>
          <p:cNvSpPr txBox="1"/>
          <p:nvPr/>
        </p:nvSpPr>
        <p:spPr>
          <a:xfrm>
            <a:off x="6766560" y="2240280"/>
            <a:ext cx="1874520" cy="365760"/>
          </a:xfrm>
          <a:prstGeom prst="rect">
            <a:avLst/>
          </a:prstGeom>
          <a:noFill/>
          <a:ln/>
        </p:spPr>
        <p:txBody>
          <a:bodyPr wrap="square" lIns="0" tIns="0" rIns="0" bIns="0" rtlCol="0" anchor="t"/>
          <a:lstStyle/>
          <a:p>
            <a:pPr algn="ctr" indent="0" marL="0">
              <a:buNone/>
            </a:pPr>
            <a:r>
              <a:rPr lang="en-US" sz="1700" b="1" dirty="0">
                <a:solidFill>
                  <a:schemeClr val="tx1"/>
                </a:solidFill>
              </a:rPr>
              <a:t>2 datasets</a:t>
            </a:r>
            <a:endParaRPr lang="en-US" sz="1700" dirty="0"/>
          </a:p>
        </p:txBody>
      </p:sp>
      <p:sp>
        <p:nvSpPr>
          <p:cNvPr id="21" name="Text 15"/>
          <p:cNvSpPr txBox="1"/>
          <p:nvPr/>
        </p:nvSpPr>
        <p:spPr>
          <a:xfrm>
            <a:off x="6766560" y="2651760"/>
            <a:ext cx="1874520" cy="1554480"/>
          </a:xfrm>
          <a:prstGeom prst="rect">
            <a:avLst/>
          </a:prstGeom>
          <a:noFill/>
          <a:ln/>
        </p:spPr>
        <p:txBody>
          <a:bodyPr wrap="square" lIns="0" tIns="0" rIns="0" bIns="0" rtlCol="0" anchor="t"/>
          <a:lstStyle/>
          <a:p>
            <a:pPr algn="ctr" indent="0" marL="0">
              <a:buNone/>
            </a:pPr>
            <a:r>
              <a:rPr lang="en-US" sz="1400" dirty="0">
                <a:solidFill>
                  <a:schemeClr val="tx1"/>
                </a:solidFill>
              </a:rPr>
              <a:t>100 registros nominales (1–2 alertas) y 100 de estrés (3 o más).</a:t>
            </a:r>
            <a:endParaRPr lang="en-US" sz="1400" dirty="0"/>
          </a:p>
        </p:txBody>
      </p:sp>
      <p:sp>
        <p:nvSpPr>
          <p:cNvPr id="22" name="Text 16"/>
          <p:cNvSpPr txBox="1"/>
          <p:nvPr/>
        </p:nvSpPr>
        <p:spPr>
          <a:xfrm>
            <a:off x="457200" y="4114800"/>
            <a:ext cx="8229600" cy="502920"/>
          </a:xfrm>
          <a:prstGeom prst="rect">
            <a:avLst/>
          </a:prstGeom>
          <a:noFill/>
          <a:ln/>
        </p:spPr>
        <p:txBody>
          <a:bodyPr wrap="square" lIns="0" tIns="0" rIns="0" bIns="0" rtlCol="0" anchor="t"/>
          <a:lstStyle/>
          <a:p>
            <a:pPr indent="0" marL="0">
              <a:buNone/>
            </a:pPr>
            <a:r>
              <a:rPr lang="en-US" sz="1500" i="1" dirty="0">
                <a:solidFill>
                  <a:schemeClr val="accent1"/>
                </a:solidFill>
              </a:rPr>
              <a:t>Pregunta: ¿la red descubre sola los estados del servidor y reconoce un régimen de estrés como algo nuevo?</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Resultados: categorías según la vigilancia</a:t>
            </a:r>
            <a:endParaRPr lang="en-US" sz="3000" dirty="0"/>
          </a:p>
        </p:txBody>
      </p:sp>
      <p:graphicFrame>
        <p:nvGraphicFramePr>
          <p:cNvPr id="3" name="Chart 0" descr=""/>
          <p:cNvGraphicFramePr/>
          <p:nvPr/>
        </p:nvGraphicFramePr>
        <p:xfrm>
          <a:off x="365760" y="114300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188720"/>
            <a:ext cx="2926080" cy="1005840"/>
          </a:xfrm>
          <a:prstGeom prst="rect">
            <a:avLst/>
          </a:prstGeom>
          <a:noFill/>
          <a:ln/>
        </p:spPr>
        <p:txBody>
          <a:bodyPr wrap="square" lIns="0" tIns="0" rIns="0" bIns="0" rtlCol="0" anchor="t"/>
          <a:lstStyle/>
          <a:p>
            <a:pPr indent="0" marL="0">
              <a:buNone/>
            </a:pPr>
            <a:r>
              <a:rPr lang="en-US" sz="1700" b="1" dirty="0">
                <a:solidFill>
                  <a:schemeClr val="accent1"/>
                </a:solidFill>
              </a:rPr>
              <a:t>Nominal</a:t>
            </a:r>
            <a:endParaRPr lang="en-US" sz="1400" dirty="0"/>
          </a:p>
          <a:p>
            <a:pPr indent="0" marL="0">
              <a:buNone/>
            </a:pPr>
            <a:r>
              <a:rPr lang="en-US" sz="1400" dirty="0">
                <a:solidFill>
                  <a:schemeClr val="tx1"/>
                </a:solidFill>
              </a:rPr>
              <a:t>Con ρ ≥ 0.5 cada combinación de alertas tiene su categoría: disco, CPU, memoria, red…</a:t>
            </a:r>
            <a:endParaRPr lang="en-US" sz="1400" dirty="0"/>
          </a:p>
        </p:txBody>
      </p:sp>
      <p:sp>
        <p:nvSpPr>
          <p:cNvPr id="5" name="Text 2"/>
          <p:cNvSpPr txBox="1"/>
          <p:nvPr/>
        </p:nvSpPr>
        <p:spPr>
          <a:xfrm>
            <a:off x="5760720" y="2304288"/>
            <a:ext cx="2926080" cy="1005840"/>
          </a:xfrm>
          <a:prstGeom prst="rect">
            <a:avLst/>
          </a:prstGeom>
          <a:noFill/>
          <a:ln/>
        </p:spPr>
        <p:txBody>
          <a:bodyPr wrap="square" lIns="0" tIns="0" rIns="0" bIns="0" rtlCol="0" anchor="t"/>
          <a:lstStyle/>
          <a:p>
            <a:pPr indent="0" marL="0">
              <a:buNone/>
            </a:pPr>
            <a:r>
              <a:rPr lang="en-US" sz="1700" b="1" dirty="0">
                <a:solidFill>
                  <a:schemeClr val="accent1"/>
                </a:solidFill>
              </a:rPr>
              <a:t>Estrés</a:t>
            </a:r>
            <a:endParaRPr lang="en-US" sz="1400" dirty="0"/>
          </a:p>
          <a:p>
            <a:pPr indent="0" marL="0">
              <a:buNone/>
            </a:pPr>
            <a:r>
              <a:rPr lang="en-US" sz="1400" dirty="0">
                <a:solidFill>
                  <a:schemeClr val="tx1"/>
                </a:solidFill>
              </a:rPr>
              <a:t>La red lo resume en pocos estados: memoria + red (57 %) y CPU + memoria + disco (19 %).</a:t>
            </a:r>
            <a:endParaRPr lang="en-US" sz="1400" dirty="0"/>
          </a:p>
        </p:txBody>
      </p:sp>
      <p:sp>
        <p:nvSpPr>
          <p:cNvPr id="6" name="Text 3"/>
          <p:cNvSpPr txBox="1"/>
          <p:nvPr/>
        </p:nvSpPr>
        <p:spPr>
          <a:xfrm>
            <a:off x="5760720" y="3419856"/>
            <a:ext cx="2926080" cy="1005840"/>
          </a:xfrm>
          <a:prstGeom prst="rect">
            <a:avLst/>
          </a:prstGeom>
          <a:noFill/>
          <a:ln/>
        </p:spPr>
        <p:txBody>
          <a:bodyPr wrap="square" lIns="0" tIns="0" rIns="0" bIns="0" rtlCol="0" anchor="t"/>
          <a:lstStyle/>
          <a:p>
            <a:pPr indent="0" marL="0">
              <a:buNone/>
            </a:pPr>
            <a:r>
              <a:rPr lang="en-US" sz="1700" b="1" dirty="0">
                <a:solidFill>
                  <a:schemeClr val="accent1"/>
                </a:solidFill>
              </a:rPr>
              <a:t>Orden</a:t>
            </a:r>
            <a:endParaRPr lang="en-US" sz="1400" dirty="0"/>
          </a:p>
          <a:p>
            <a:pPr indent="0" marL="0">
              <a:buNone/>
            </a:pPr>
            <a:r>
              <a:rPr lang="en-US" sz="1400" dirty="0">
                <a:solidFill>
                  <a:schemeClr val="tx1"/>
                </a:solidFill>
              </a:rPr>
              <a:t>Cambiar el orden de los registros cambia el tamaño de los grupos.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¿Reconoce el estrés como algo nuevo?</a:t>
            </a:r>
            <a:endParaRPr lang="en-US" sz="3000" dirty="0"/>
          </a:p>
        </p:txBody>
      </p:sp>
      <p:sp>
        <p:nvSpPr>
          <p:cNvPr id="3" name="Text 1"/>
          <p:cNvSpPr txBox="1"/>
          <p:nvPr/>
        </p:nvSpPr>
        <p:spPr>
          <a:xfrm>
            <a:off x="457200" y="1051560"/>
            <a:ext cx="8229600" cy="365760"/>
          </a:xfrm>
          <a:prstGeom prst="rect">
            <a:avLst/>
          </a:prstGeom>
          <a:noFill/>
          <a:ln/>
        </p:spPr>
        <p:txBody>
          <a:bodyPr wrap="square" lIns="0" tIns="0" rIns="0" bIns="0" rtlCol="0" anchor="t"/>
          <a:lstStyle/>
          <a:p>
            <a:pPr indent="0" marL="0">
              <a:buNone/>
            </a:pPr>
            <a:r>
              <a:rPr lang="en-US" sz="1500" dirty="0">
                <a:solidFill>
                  <a:schemeClr val="accent5"/>
                </a:solidFill>
              </a:rPr>
              <a:t>La red aprendió primero los 100 registros nominales y después recibió los 100 de estrés.</a:t>
            </a:r>
            <a:endParaRPr lang="en-US" sz="1500" dirty="0"/>
          </a:p>
        </p:txBody>
      </p:sp>
      <p:sp>
        <p:nvSpPr>
          <p:cNvPr id="4" name="Text 2"/>
          <p:cNvSpPr txBox="1"/>
          <p:nvPr/>
        </p:nvSpPr>
        <p:spPr>
          <a:xfrm>
            <a:off x="457200" y="1691640"/>
            <a:ext cx="2651760" cy="1005840"/>
          </a:xfrm>
          <a:prstGeom prst="rect">
            <a:avLst/>
          </a:prstGeom>
          <a:noFill/>
          <a:ln/>
        </p:spPr>
        <p:txBody>
          <a:bodyPr wrap="square" lIns="0" tIns="0" rIns="0" bIns="0" rtlCol="0" anchor="b"/>
          <a:lstStyle/>
          <a:p>
            <a:pPr indent="0" marL="0">
              <a:buNone/>
            </a:pPr>
            <a:r>
              <a:rPr lang="en-US" sz="6600" b="1" dirty="0">
                <a:solidFill>
                  <a:schemeClr val="accent4"/>
                </a:solidFill>
                <a:latin typeface="Cambria" pitchFamily="34" charset="0"/>
                <a:ea typeface="Cambria" pitchFamily="34" charset="-122"/>
                <a:cs typeface="Cambria" pitchFamily="34" charset="-120"/>
              </a:rPr>
              <a:t>96</a:t>
            </a:r>
            <a:pPr indent="0" marL="0">
              <a:buNone/>
            </a:pPr>
            <a:r>
              <a:rPr lang="en-US" sz="1800" dirty="0">
                <a:solidFill>
                  <a:schemeClr val="bg1"/>
                </a:solidFill>
              </a:rPr>
              <a:t>  de 100</a:t>
            </a:r>
            <a:endParaRPr lang="en-US" sz="1500" dirty="0"/>
          </a:p>
        </p:txBody>
      </p:sp>
      <p:sp>
        <p:nvSpPr>
          <p:cNvPr id="5" name="Text 3"/>
          <p:cNvSpPr txBox="1"/>
          <p:nvPr/>
        </p:nvSpPr>
        <p:spPr>
          <a:xfrm>
            <a:off x="457200" y="2788920"/>
            <a:ext cx="2514600" cy="822960"/>
          </a:xfrm>
          <a:prstGeom prst="rect">
            <a:avLst/>
          </a:prstGeom>
          <a:noFill/>
          <a:ln/>
        </p:spPr>
        <p:txBody>
          <a:bodyPr wrap="square" lIns="0" tIns="0" rIns="0" bIns="0" rtlCol="0" anchor="t"/>
          <a:lstStyle/>
          <a:p>
            <a:pPr indent="0" marL="0">
              <a:buNone/>
            </a:pPr>
            <a:r>
              <a:rPr lang="en-US" sz="1500" dirty="0">
                <a:solidFill>
                  <a:schemeClr val="bg1"/>
                </a:solidFill>
              </a:rPr>
              <a:t>se confunden con lo normal</a:t>
            </a:r>
            <a:endParaRPr lang="en-US" sz="1500" dirty="0"/>
          </a:p>
        </p:txBody>
      </p:sp>
      <p:sp>
        <p:nvSpPr>
          <p:cNvPr id="6" name="Text 4"/>
          <p:cNvSpPr txBox="1"/>
          <p:nvPr/>
        </p:nvSpPr>
        <p:spPr>
          <a:xfrm>
            <a:off x="457200" y="3611880"/>
            <a:ext cx="2514600" cy="365760"/>
          </a:xfrm>
          <a:prstGeom prst="rect">
            <a:avLst/>
          </a:prstGeom>
          <a:noFill/>
          <a:ln/>
        </p:spPr>
        <p:txBody>
          <a:bodyPr wrap="square" lIns="0" tIns="0" rIns="0" bIns="0" rtlCol="0" anchor="t"/>
          <a:lstStyle/>
          <a:p>
            <a:pPr indent="0" marL="0">
              <a:buNone/>
            </a:pPr>
            <a:r>
              <a:rPr lang="en-US" sz="1500" b="1" dirty="0">
                <a:solidFill>
                  <a:schemeClr val="accent4"/>
                </a:solidFill>
              </a:rPr>
              <a:t>con ρ = 0.3</a:t>
            </a:r>
            <a:endParaRPr lang="en-US" sz="1500" dirty="0"/>
          </a:p>
        </p:txBody>
      </p:sp>
      <p:sp>
        <p:nvSpPr>
          <p:cNvPr id="7" name="Text 5"/>
          <p:cNvSpPr txBox="1"/>
          <p:nvPr/>
        </p:nvSpPr>
        <p:spPr>
          <a:xfrm>
            <a:off x="3291840" y="1691640"/>
            <a:ext cx="2651760" cy="1005840"/>
          </a:xfrm>
          <a:prstGeom prst="rect">
            <a:avLst/>
          </a:prstGeom>
          <a:noFill/>
          <a:ln/>
        </p:spPr>
        <p:txBody>
          <a:bodyPr wrap="square" lIns="0" tIns="0" rIns="0" bIns="0" rtlCol="0" anchor="b"/>
          <a:lstStyle/>
          <a:p>
            <a:pPr indent="0" marL="0">
              <a:buNone/>
            </a:pPr>
            <a:r>
              <a:rPr lang="en-US" sz="6600" b="1" dirty="0">
                <a:solidFill>
                  <a:schemeClr val="accent2"/>
                </a:solidFill>
                <a:latin typeface="Cambria" pitchFamily="34" charset="0"/>
                <a:ea typeface="Cambria" pitchFamily="34" charset="-122"/>
                <a:cs typeface="Cambria" pitchFamily="34" charset="-120"/>
              </a:rPr>
              <a:t>27</a:t>
            </a:r>
            <a:pPr indent="0" marL="0">
              <a:buNone/>
            </a:pPr>
            <a:r>
              <a:rPr lang="en-US" sz="1800" dirty="0">
                <a:solidFill>
                  <a:schemeClr val="bg1"/>
                </a:solidFill>
              </a:rPr>
              <a:t>  de 100</a:t>
            </a:r>
            <a:endParaRPr lang="en-US" sz="1500" dirty="0"/>
          </a:p>
        </p:txBody>
      </p:sp>
      <p:sp>
        <p:nvSpPr>
          <p:cNvPr id="8" name="Text 6"/>
          <p:cNvSpPr txBox="1"/>
          <p:nvPr/>
        </p:nvSpPr>
        <p:spPr>
          <a:xfrm>
            <a:off x="3291840" y="2788920"/>
            <a:ext cx="2514600" cy="822960"/>
          </a:xfrm>
          <a:prstGeom prst="rect">
            <a:avLst/>
          </a:prstGeom>
          <a:noFill/>
          <a:ln/>
        </p:spPr>
        <p:txBody>
          <a:bodyPr wrap="square" lIns="0" tIns="0" rIns="0" bIns="0" rtlCol="0" anchor="t"/>
          <a:lstStyle/>
          <a:p>
            <a:pPr indent="0" marL="0">
              <a:buNone/>
            </a:pPr>
            <a:r>
              <a:rPr lang="en-US" sz="1500" dirty="0">
                <a:solidFill>
                  <a:schemeClr val="bg1"/>
                </a:solidFill>
              </a:rPr>
              <a:t>se confunden con lo normal</a:t>
            </a:r>
            <a:endParaRPr lang="en-US" sz="1500" dirty="0"/>
          </a:p>
        </p:txBody>
      </p:sp>
      <p:sp>
        <p:nvSpPr>
          <p:cNvPr id="9" name="Text 7"/>
          <p:cNvSpPr txBox="1"/>
          <p:nvPr/>
        </p:nvSpPr>
        <p:spPr>
          <a:xfrm>
            <a:off x="3291840" y="3611880"/>
            <a:ext cx="2514600" cy="365760"/>
          </a:xfrm>
          <a:prstGeom prst="rect">
            <a:avLst/>
          </a:prstGeom>
          <a:noFill/>
          <a:ln/>
        </p:spPr>
        <p:txBody>
          <a:bodyPr wrap="square" lIns="0" tIns="0" rIns="0" bIns="0" rtlCol="0" anchor="t"/>
          <a:lstStyle/>
          <a:p>
            <a:pPr indent="0" marL="0">
              <a:buNone/>
            </a:pPr>
            <a:r>
              <a:rPr lang="en-US" sz="1500" b="1" dirty="0">
                <a:solidFill>
                  <a:schemeClr val="accent2"/>
                </a:solidFill>
              </a:rPr>
              <a:t>con ρ = 0.5</a:t>
            </a:r>
            <a:endParaRPr lang="en-US" sz="1500" dirty="0"/>
          </a:p>
        </p:txBody>
      </p:sp>
      <p:sp>
        <p:nvSpPr>
          <p:cNvPr id="10" name="Text 8"/>
          <p:cNvSpPr txBox="1"/>
          <p:nvPr/>
        </p:nvSpPr>
        <p:spPr>
          <a:xfrm>
            <a:off x="6126480" y="1691640"/>
            <a:ext cx="2651760" cy="1005840"/>
          </a:xfrm>
          <a:prstGeom prst="rect">
            <a:avLst/>
          </a:prstGeom>
          <a:noFill/>
          <a:ln/>
        </p:spPr>
        <p:txBody>
          <a:bodyPr wrap="square" lIns="0" tIns="0" rIns="0" bIns="0" rtlCol="0" anchor="b"/>
          <a:lstStyle/>
          <a:p>
            <a:pPr indent="0" marL="0">
              <a:buNone/>
            </a:pPr>
            <a:r>
              <a:rPr lang="en-US" sz="6600" b="1" dirty="0">
                <a:solidFill>
                  <a:schemeClr val="accent3"/>
                </a:solidFill>
                <a:latin typeface="Cambria" pitchFamily="34" charset="0"/>
                <a:ea typeface="Cambria" pitchFamily="34" charset="-122"/>
                <a:cs typeface="Cambria" pitchFamily="34" charset="-120"/>
              </a:rPr>
              <a:t>0</a:t>
            </a:r>
            <a:pPr indent="0" marL="0">
              <a:buNone/>
            </a:pPr>
            <a:r>
              <a:rPr lang="en-US" sz="1800" dirty="0">
                <a:solidFill>
                  <a:schemeClr val="bg1"/>
                </a:solidFill>
              </a:rPr>
              <a:t>  de 100</a:t>
            </a:r>
            <a:endParaRPr lang="en-US" sz="1500" dirty="0"/>
          </a:p>
        </p:txBody>
      </p:sp>
      <p:sp>
        <p:nvSpPr>
          <p:cNvPr id="11" name="Text 9"/>
          <p:cNvSpPr txBox="1"/>
          <p:nvPr/>
        </p:nvSpPr>
        <p:spPr>
          <a:xfrm>
            <a:off x="6126480" y="2788920"/>
            <a:ext cx="2514600" cy="822960"/>
          </a:xfrm>
          <a:prstGeom prst="rect">
            <a:avLst/>
          </a:prstGeom>
          <a:noFill/>
          <a:ln/>
        </p:spPr>
        <p:txBody>
          <a:bodyPr wrap="square" lIns="0" tIns="0" rIns="0" bIns="0" rtlCol="0" anchor="t"/>
          <a:lstStyle/>
          <a:p>
            <a:pPr indent="0" marL="0">
              <a:buNone/>
            </a:pPr>
            <a:r>
              <a:rPr lang="en-US" sz="1500" dirty="0">
                <a:solidFill>
                  <a:schemeClr val="bg1"/>
                </a:solidFill>
              </a:rPr>
              <a:t>se confunden: el estrés crea 5 categorías nuevas</a:t>
            </a:r>
            <a:endParaRPr lang="en-US" sz="1500" dirty="0"/>
          </a:p>
        </p:txBody>
      </p:sp>
      <p:sp>
        <p:nvSpPr>
          <p:cNvPr id="12" name="Text 10"/>
          <p:cNvSpPr txBox="1"/>
          <p:nvPr/>
        </p:nvSpPr>
        <p:spPr>
          <a:xfrm>
            <a:off x="6126480" y="3611880"/>
            <a:ext cx="2514600" cy="365760"/>
          </a:xfrm>
          <a:prstGeom prst="rect">
            <a:avLst/>
          </a:prstGeom>
          <a:noFill/>
          <a:ln/>
        </p:spPr>
        <p:txBody>
          <a:bodyPr wrap="square" lIns="0" tIns="0" rIns="0" bIns="0" rtlCol="0" anchor="t"/>
          <a:lstStyle/>
          <a:p>
            <a:pPr indent="0" marL="0">
              <a:buNone/>
            </a:pPr>
            <a:r>
              <a:rPr lang="en-US" sz="1500" b="1" dirty="0">
                <a:solidFill>
                  <a:schemeClr val="accent3"/>
                </a:solidFill>
              </a:rPr>
              <a:t>con ρ = 0.7</a:t>
            </a:r>
            <a:endParaRPr lang="en-US" sz="1500" dirty="0"/>
          </a:p>
        </p:txBody>
      </p:sp>
      <p:sp>
        <p:nvSpPr>
          <p:cNvPr id="13" name="Text 11"/>
          <p:cNvSpPr txBox="1"/>
          <p:nvPr/>
        </p:nvSpPr>
        <p:spPr>
          <a:xfrm>
            <a:off x="457200" y="4114800"/>
            <a:ext cx="7680960" cy="548640"/>
          </a:xfrm>
          <a:prstGeom prst="rect">
            <a:avLst/>
          </a:prstGeom>
          <a:noFill/>
          <a:ln/>
        </p:spPr>
        <p:txBody>
          <a:bodyPr wrap="square" lIns="0" tIns="0" rIns="0" bIns="0" rtlCol="0" anchor="t"/>
          <a:lstStyle/>
          <a:p>
            <a:pPr indent="0" marL="0">
              <a:buNone/>
            </a:pPr>
            <a:r>
              <a:rPr lang="en-US" sz="1500" i="1" dirty="0">
                <a:solidFill>
                  <a:schemeClr val="bg2"/>
                </a:solidFill>
              </a:rPr>
              <a:t>Con ρ = 0.7 la llegada del estrés se ve como la aparición de categorías nuevas: eso es detectar una anomalía sin etiquetas.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¿Dónde se usan las redes ART?</a:t>
            </a:r>
            <a:endParaRPr lang="en-US" sz="3000" dirty="0"/>
          </a:p>
        </p:txBody>
      </p:sp>
      <p:sp>
        <p:nvSpPr>
          <p:cNvPr id="3" name="neurona"/>
          <p:cNvSpPr/>
          <p:nvPr/>
        </p:nvSpPr>
        <p:spPr>
          <a:xfrm>
            <a:off x="457200" y="1325880"/>
            <a:ext cx="640080" cy="64008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617220" y="1485900"/>
            <a:ext cx="320040" cy="320040"/>
          </a:xfrm>
          <a:prstGeom prst="rect">
            <a:avLst/>
          </a:prstGeom>
        </p:spPr>
      </p:pic>
      <p:sp>
        <p:nvSpPr>
          <p:cNvPr id="5" name="Text 2"/>
          <p:cNvSpPr txBox="1"/>
          <p:nvPr/>
        </p:nvSpPr>
        <p:spPr>
          <a:xfrm>
            <a:off x="1234440" y="1280160"/>
            <a:ext cx="1874520" cy="1325880"/>
          </a:xfrm>
          <a:prstGeom prst="rect">
            <a:avLst/>
          </a:prstGeom>
          <a:noFill/>
          <a:ln/>
        </p:spPr>
        <p:txBody>
          <a:bodyPr wrap="square" lIns="0" tIns="0" rIns="0" bIns="0" rtlCol="0" anchor="t"/>
          <a:lstStyle/>
          <a:p>
            <a:pPr indent="0" marL="0">
              <a:buNone/>
            </a:pPr>
            <a:r>
              <a:rPr lang="en-US" sz="1600" b="1" dirty="0">
                <a:solidFill>
                  <a:schemeClr val="tx1"/>
                </a:solidFill>
              </a:rPr>
              <a:t>Reconocimiento de caracteres</a:t>
            </a:r>
            <a:endParaRPr lang="en-US" sz="1400" dirty="0"/>
          </a:p>
          <a:p>
            <a:pPr indent="0" marL="0">
              <a:buNone/>
            </a:pPr>
            <a:r>
              <a:rPr lang="en-US" sz="1400" dirty="0">
                <a:solidFill>
                  <a:schemeClr val="tx1"/>
                </a:solidFill>
              </a:rPr>
              <a:t>Letras y símbolos, incluso con ruido.</a:t>
            </a:r>
            <a:endParaRPr lang="en-US" sz="1400" dirty="0"/>
          </a:p>
        </p:txBody>
      </p:sp>
      <p:sp>
        <p:nvSpPr>
          <p:cNvPr id="6" name="neurona"/>
          <p:cNvSpPr/>
          <p:nvPr/>
        </p:nvSpPr>
        <p:spPr>
          <a:xfrm>
            <a:off x="3246120" y="1325880"/>
            <a:ext cx="640080" cy="640080"/>
          </a:xfrm>
          <a:prstGeom prst="ellipse">
            <a:avLst/>
          </a:prstGeom>
          <a:solidFill>
            <a:schemeClr val="accent1"/>
          </a:solidFill>
          <a:ln w="12700">
            <a:solidFill>
              <a:schemeClr val="accent1"/>
            </a:solidFill>
            <a:prstDash val="solid"/>
          </a:ln>
        </p:spPr>
      </p:sp>
      <p:pic>
        <p:nvPicPr>
          <p:cNvPr id="7" name="Image 1" descr="preencoded.png">    </p:cNvPr>
          <p:cNvPicPr>
            <a:picLocks noChangeAspect="1"/>
          </p:cNvPicPr>
          <p:nvPr/>
        </p:nvPicPr>
        <p:blipFill>
          <a:blip r:embed="rId2"/>
          <a:stretch>
            <a:fillRect/>
          </a:stretch>
        </p:blipFill>
        <p:spPr>
          <a:xfrm>
            <a:off x="3406140" y="1485900"/>
            <a:ext cx="320040" cy="320040"/>
          </a:xfrm>
          <a:prstGeom prst="rect">
            <a:avLst/>
          </a:prstGeom>
        </p:spPr>
      </p:pic>
      <p:sp>
        <p:nvSpPr>
          <p:cNvPr id="8" name="Text 4"/>
          <p:cNvSpPr txBox="1"/>
          <p:nvPr/>
        </p:nvSpPr>
        <p:spPr>
          <a:xfrm>
            <a:off x="4023360" y="1280160"/>
            <a:ext cx="1874520" cy="1325880"/>
          </a:xfrm>
          <a:prstGeom prst="rect">
            <a:avLst/>
          </a:prstGeom>
          <a:noFill/>
          <a:ln/>
        </p:spPr>
        <p:txBody>
          <a:bodyPr wrap="square" lIns="0" tIns="0" rIns="0" bIns="0" rtlCol="0" anchor="t"/>
          <a:lstStyle/>
          <a:p>
            <a:pPr indent="0" marL="0">
              <a:buNone/>
            </a:pPr>
            <a:r>
              <a:rPr lang="en-US" sz="1600" b="1" dirty="0">
                <a:solidFill>
                  <a:schemeClr val="tx1"/>
                </a:solidFill>
              </a:rPr>
              <a:t>Detección de intrusiones</a:t>
            </a:r>
            <a:endParaRPr lang="en-US" sz="1400" dirty="0"/>
          </a:p>
          <a:p>
            <a:pPr indent="0" marL="0">
              <a:buNone/>
            </a:pPr>
            <a:r>
              <a:rPr lang="en-US" sz="1400" dirty="0">
                <a:solidFill>
                  <a:schemeClr val="tx1"/>
                </a:solidFill>
              </a:rPr>
              <a:t>Tráfico o comportamiento que no encaja en lo conocido.</a:t>
            </a:r>
            <a:endParaRPr lang="en-US" sz="1400" dirty="0"/>
          </a:p>
        </p:txBody>
      </p:sp>
      <p:sp>
        <p:nvSpPr>
          <p:cNvPr id="9" name="neurona"/>
          <p:cNvSpPr/>
          <p:nvPr/>
        </p:nvSpPr>
        <p:spPr>
          <a:xfrm>
            <a:off x="6035040" y="1325880"/>
            <a:ext cx="640080" cy="640080"/>
          </a:xfrm>
          <a:prstGeom prst="ellipse">
            <a:avLst/>
          </a:prstGeom>
          <a:solidFill>
            <a:schemeClr val="accent2"/>
          </a:solidFill>
          <a:ln w="12700">
            <a:solidFill>
              <a:schemeClr val="accent2"/>
            </a:solidFill>
            <a:prstDash val="solid"/>
          </a:ln>
        </p:spPr>
      </p:sp>
      <p:pic>
        <p:nvPicPr>
          <p:cNvPr id="10" name="Image 2" descr="preencoded.png">    </p:cNvPr>
          <p:cNvPicPr>
            <a:picLocks noChangeAspect="1"/>
          </p:cNvPicPr>
          <p:nvPr/>
        </p:nvPicPr>
        <p:blipFill>
          <a:blip r:embed="rId3"/>
          <a:stretch>
            <a:fillRect/>
          </a:stretch>
        </p:blipFill>
        <p:spPr>
          <a:xfrm>
            <a:off x="6195060" y="1485900"/>
            <a:ext cx="320040" cy="320040"/>
          </a:xfrm>
          <a:prstGeom prst="rect">
            <a:avLst/>
          </a:prstGeom>
        </p:spPr>
      </p:pic>
      <p:sp>
        <p:nvSpPr>
          <p:cNvPr id="11" name="Text 6"/>
          <p:cNvSpPr txBox="1"/>
          <p:nvPr/>
        </p:nvSpPr>
        <p:spPr>
          <a:xfrm>
            <a:off x="6812280" y="1280160"/>
            <a:ext cx="1874520" cy="1325880"/>
          </a:xfrm>
          <a:prstGeom prst="rect">
            <a:avLst/>
          </a:prstGeom>
          <a:noFill/>
          <a:ln/>
        </p:spPr>
        <p:txBody>
          <a:bodyPr wrap="square" lIns="0" tIns="0" rIns="0" bIns="0" rtlCol="0" anchor="t"/>
          <a:lstStyle/>
          <a:p>
            <a:pPr indent="0" marL="0">
              <a:buNone/>
            </a:pPr>
            <a:r>
              <a:rPr lang="en-US" sz="1600" b="1" dirty="0">
                <a:solidFill>
                  <a:schemeClr val="tx1"/>
                </a:solidFill>
              </a:rPr>
              <a:t>Monitoreo de sistemas</a:t>
            </a:r>
            <a:endParaRPr lang="en-US" sz="1400" dirty="0"/>
          </a:p>
          <a:p>
            <a:pPr indent="0" marL="0">
              <a:buNone/>
            </a:pPr>
            <a:r>
              <a:rPr lang="en-US" sz="1400" dirty="0">
                <a:solidFill>
                  <a:schemeClr val="tx1"/>
                </a:solidFill>
              </a:rPr>
              <a:t>Fallas y estados nuevos en servidores o máquinas.</a:t>
            </a:r>
            <a:endParaRPr lang="en-US" sz="1400" dirty="0"/>
          </a:p>
        </p:txBody>
      </p:sp>
      <p:sp>
        <p:nvSpPr>
          <p:cNvPr id="12" name="neurona"/>
          <p:cNvSpPr/>
          <p:nvPr/>
        </p:nvSpPr>
        <p:spPr>
          <a:xfrm>
            <a:off x="457200" y="2926080"/>
            <a:ext cx="640080" cy="640080"/>
          </a:xfrm>
          <a:prstGeom prst="ellipse">
            <a:avLst/>
          </a:prstGeom>
          <a:solidFill>
            <a:schemeClr val="accent1"/>
          </a:solidFill>
          <a:ln w="12700">
            <a:solidFill>
              <a:schemeClr val="accent1"/>
            </a:solidFill>
            <a:prstDash val="solid"/>
          </a:ln>
        </p:spPr>
      </p:sp>
      <p:pic>
        <p:nvPicPr>
          <p:cNvPr id="13" name="Image 3" descr="preencoded.png">    </p:cNvPr>
          <p:cNvPicPr>
            <a:picLocks noChangeAspect="1"/>
          </p:cNvPicPr>
          <p:nvPr/>
        </p:nvPicPr>
        <p:blipFill>
          <a:blip r:embed="rId4"/>
          <a:stretch>
            <a:fillRect/>
          </a:stretch>
        </p:blipFill>
        <p:spPr>
          <a:xfrm>
            <a:off x="617220" y="3086100"/>
            <a:ext cx="320040" cy="320040"/>
          </a:xfrm>
          <a:prstGeom prst="rect">
            <a:avLst/>
          </a:prstGeom>
        </p:spPr>
      </p:pic>
      <p:sp>
        <p:nvSpPr>
          <p:cNvPr id="14" name="Text 8"/>
          <p:cNvSpPr txBox="1"/>
          <p:nvPr/>
        </p:nvSpPr>
        <p:spPr>
          <a:xfrm>
            <a:off x="1234440" y="2880360"/>
            <a:ext cx="1874520" cy="1325880"/>
          </a:xfrm>
          <a:prstGeom prst="rect">
            <a:avLst/>
          </a:prstGeom>
          <a:noFill/>
          <a:ln/>
        </p:spPr>
        <p:txBody>
          <a:bodyPr wrap="square" lIns="0" tIns="0" rIns="0" bIns="0" rtlCol="0" anchor="t"/>
          <a:lstStyle/>
          <a:p>
            <a:pPr indent="0" marL="0">
              <a:buNone/>
            </a:pPr>
            <a:r>
              <a:rPr lang="en-US" sz="1600" b="1" dirty="0">
                <a:solidFill>
                  <a:schemeClr val="tx1"/>
                </a:solidFill>
              </a:rPr>
              <a:t>Robótica</a:t>
            </a:r>
            <a:endParaRPr lang="en-US" sz="1400" dirty="0"/>
          </a:p>
          <a:p>
            <a:pPr indent="0" marL="0">
              <a:buNone/>
            </a:pPr>
            <a:r>
              <a:rPr lang="en-US" sz="1400" dirty="0">
                <a:solidFill>
                  <a:schemeClr val="tx1"/>
                </a:solidFill>
              </a:rPr>
              <a:t>Aprender del entorno mientras el robot opera.</a:t>
            </a:r>
            <a:endParaRPr lang="en-US" sz="1400" dirty="0"/>
          </a:p>
        </p:txBody>
      </p:sp>
      <p:sp>
        <p:nvSpPr>
          <p:cNvPr id="15" name="neurona"/>
          <p:cNvSpPr/>
          <p:nvPr/>
        </p:nvSpPr>
        <p:spPr>
          <a:xfrm>
            <a:off x="3246120" y="2926080"/>
            <a:ext cx="640080" cy="640080"/>
          </a:xfrm>
          <a:prstGeom prst="ellipse">
            <a:avLst/>
          </a:prstGeom>
          <a:solidFill>
            <a:schemeClr val="accent1"/>
          </a:solidFill>
          <a:ln w="12700">
            <a:solidFill>
              <a:schemeClr val="accent1"/>
            </a:solidFill>
            <a:prstDash val="solid"/>
          </a:ln>
        </p:spPr>
      </p:sp>
      <p:pic>
        <p:nvPicPr>
          <p:cNvPr id="16" name="Image 4" descr="preencoded.png">    </p:cNvPr>
          <p:cNvPicPr>
            <a:picLocks noChangeAspect="1"/>
          </p:cNvPicPr>
          <p:nvPr/>
        </p:nvPicPr>
        <p:blipFill>
          <a:blip r:embed="rId5"/>
          <a:stretch>
            <a:fillRect/>
          </a:stretch>
        </p:blipFill>
        <p:spPr>
          <a:xfrm>
            <a:off x="3406140" y="3086100"/>
            <a:ext cx="320040" cy="320040"/>
          </a:xfrm>
          <a:prstGeom prst="rect">
            <a:avLst/>
          </a:prstGeom>
        </p:spPr>
      </p:pic>
      <p:sp>
        <p:nvSpPr>
          <p:cNvPr id="17" name="Text 10"/>
          <p:cNvSpPr txBox="1"/>
          <p:nvPr/>
        </p:nvSpPr>
        <p:spPr>
          <a:xfrm>
            <a:off x="4023360" y="2880360"/>
            <a:ext cx="1874520" cy="1325880"/>
          </a:xfrm>
          <a:prstGeom prst="rect">
            <a:avLst/>
          </a:prstGeom>
          <a:noFill/>
          <a:ln/>
        </p:spPr>
        <p:txBody>
          <a:bodyPr wrap="square" lIns="0" tIns="0" rIns="0" bIns="0" rtlCol="0" anchor="t"/>
          <a:lstStyle/>
          <a:p>
            <a:pPr indent="0" marL="0">
              <a:buNone/>
            </a:pPr>
            <a:r>
              <a:rPr lang="en-US" sz="1600" b="1" dirty="0">
                <a:solidFill>
                  <a:schemeClr val="tx1"/>
                </a:solidFill>
              </a:rPr>
              <a:t>Imágenes satelitales y radar</a:t>
            </a:r>
            <a:endParaRPr lang="en-US" sz="1400" dirty="0"/>
          </a:p>
          <a:p>
            <a:pPr indent="0" marL="0">
              <a:buNone/>
            </a:pPr>
            <a:r>
              <a:rPr lang="en-US" sz="1400" dirty="0">
                <a:solidFill>
                  <a:schemeClr val="tx1"/>
                </a:solidFill>
              </a:rPr>
              <a:t>Clasificar coberturas o blancos (ARTMAP).</a:t>
            </a:r>
            <a:endParaRPr lang="en-US" sz="1400" dirty="0"/>
          </a:p>
        </p:txBody>
      </p:sp>
      <p:sp>
        <p:nvSpPr>
          <p:cNvPr id="18" name="neurona"/>
          <p:cNvSpPr/>
          <p:nvPr/>
        </p:nvSpPr>
        <p:spPr>
          <a:xfrm>
            <a:off x="6035040" y="2926080"/>
            <a:ext cx="640080" cy="640080"/>
          </a:xfrm>
          <a:prstGeom prst="ellipse">
            <a:avLst/>
          </a:prstGeom>
          <a:solidFill>
            <a:schemeClr val="accent1"/>
          </a:solidFill>
          <a:ln w="12700">
            <a:solidFill>
              <a:schemeClr val="accent1"/>
            </a:solidFill>
            <a:prstDash val="solid"/>
          </a:ln>
        </p:spPr>
      </p:sp>
      <p:pic>
        <p:nvPicPr>
          <p:cNvPr id="19" name="Image 5" descr="preencoded.png">    </p:cNvPr>
          <p:cNvPicPr>
            <a:picLocks noChangeAspect="1"/>
          </p:cNvPicPr>
          <p:nvPr/>
        </p:nvPicPr>
        <p:blipFill>
          <a:blip r:embed="rId6"/>
          <a:stretch>
            <a:fillRect/>
          </a:stretch>
        </p:blipFill>
        <p:spPr>
          <a:xfrm>
            <a:off x="6195060" y="3086100"/>
            <a:ext cx="320040" cy="320040"/>
          </a:xfrm>
          <a:prstGeom prst="rect">
            <a:avLst/>
          </a:prstGeom>
        </p:spPr>
      </p:pic>
      <p:sp>
        <p:nvSpPr>
          <p:cNvPr id="20" name="Text 12"/>
          <p:cNvSpPr txBox="1"/>
          <p:nvPr/>
        </p:nvSpPr>
        <p:spPr>
          <a:xfrm>
            <a:off x="6812280" y="2880360"/>
            <a:ext cx="1874520" cy="1325880"/>
          </a:xfrm>
          <a:prstGeom prst="rect">
            <a:avLst/>
          </a:prstGeom>
          <a:noFill/>
          <a:ln/>
        </p:spPr>
        <p:txBody>
          <a:bodyPr wrap="square" lIns="0" tIns="0" rIns="0" bIns="0" rtlCol="0" anchor="t"/>
          <a:lstStyle/>
          <a:p>
            <a:pPr indent="0" marL="0">
              <a:buNone/>
            </a:pPr>
            <a:r>
              <a:rPr lang="en-US" sz="1600" b="1" dirty="0">
                <a:solidFill>
                  <a:schemeClr val="tx1"/>
                </a:solidFill>
              </a:rPr>
              <a:t>Diagnóstico médico</a:t>
            </a:r>
            <a:endParaRPr lang="en-US" sz="1400" dirty="0"/>
          </a:p>
          <a:p>
            <a:pPr indent="0" marL="0">
              <a:buNone/>
            </a:pPr>
            <a:r>
              <a:rPr lang="en-US" sz="1400" dirty="0">
                <a:solidFill>
                  <a:schemeClr val="tx1"/>
                </a:solidFill>
              </a:rPr>
              <a:t>Agrupar casos clínicos y señales.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Fortalezas y debilidades</a:t>
            </a:r>
            <a:endParaRPr lang="en-US" sz="3000" dirty="0"/>
          </a:p>
        </p:txBody>
      </p:sp>
      <p:sp>
        <p:nvSpPr>
          <p:cNvPr id="3" name="Shape 1"/>
          <p:cNvSpPr/>
          <p:nvPr/>
        </p:nvSpPr>
        <p:spPr>
          <a:xfrm>
            <a:off x="457200" y="1188720"/>
            <a:ext cx="3977640" cy="2651760"/>
          </a:xfrm>
          <a:prstGeom prst="roundRect">
            <a:avLst>
              <a:gd name="adj" fmla="val 4138"/>
            </a:avLst>
          </a:prstGeom>
          <a:solidFill>
            <a:srgbClr val="E6F4F1"/>
          </a:solidFill>
          <a:ln w="12700">
            <a:solidFill>
              <a:srgbClr val="E6F4F1"/>
            </a:solidFill>
            <a:prstDash val="solid"/>
          </a:ln>
        </p:spPr>
      </p:sp>
      <p:pic>
        <p:nvPicPr>
          <p:cNvPr id="4" name="Image 0" descr="preencoded.png">    </p:cNvPr>
          <p:cNvPicPr>
            <a:picLocks noChangeAspect="1"/>
          </p:cNvPicPr>
          <p:nvPr/>
        </p:nvPicPr>
        <p:blipFill>
          <a:blip r:embed="rId1"/>
          <a:stretch>
            <a:fillRect/>
          </a:stretch>
        </p:blipFill>
        <p:spPr>
          <a:xfrm>
            <a:off x="731520" y="1371600"/>
            <a:ext cx="411480" cy="411480"/>
          </a:xfrm>
          <a:prstGeom prst="rect">
            <a:avLst/>
          </a:prstGeom>
        </p:spPr>
      </p:pic>
      <p:sp>
        <p:nvSpPr>
          <p:cNvPr id="5" name="Text 2"/>
          <p:cNvSpPr txBox="1"/>
          <p:nvPr/>
        </p:nvSpPr>
        <p:spPr>
          <a:xfrm>
            <a:off x="1280160" y="1371600"/>
            <a:ext cx="2926080" cy="411480"/>
          </a:xfrm>
          <a:prstGeom prst="rect">
            <a:avLst/>
          </a:prstGeom>
          <a:noFill/>
          <a:ln/>
        </p:spPr>
        <p:txBody>
          <a:bodyPr wrap="square" lIns="0" tIns="0" rIns="0" bIns="0" rtlCol="0" anchor="ctr"/>
          <a:lstStyle/>
          <a:p>
            <a:pPr indent="0" marL="0">
              <a:buNone/>
            </a:pPr>
            <a:r>
              <a:rPr lang="en-US" sz="1900" b="1" dirty="0">
                <a:solidFill>
                  <a:schemeClr val="tx1"/>
                </a:solidFill>
              </a:rPr>
              <a:t>Fortalezas</a:t>
            </a:r>
            <a:endParaRPr lang="en-US" sz="1900" dirty="0"/>
          </a:p>
        </p:txBody>
      </p:sp>
      <p:sp>
        <p:nvSpPr>
          <p:cNvPr id="6" name="Text 3"/>
          <p:cNvSpPr txBox="1"/>
          <p:nvPr/>
        </p:nvSpPr>
        <p:spPr>
          <a:xfrm>
            <a:off x="731520" y="1965960"/>
            <a:ext cx="3520440" cy="1783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No hay que fijar la cantidad de grupos</a:t>
            </a:r>
            <a:endParaRPr lang="en-US" sz="1500" dirty="0"/>
          </a:p>
          <a:p>
            <a:pPr marL="342900" indent="-342900">
              <a:spcAft>
                <a:spcPts val="800"/>
              </a:spcAft>
              <a:buSzPct val="100000"/>
              <a:buChar char="•"/>
            </a:pPr>
            <a:r>
              <a:rPr lang="en-US" sz="1500" dirty="0">
                <a:solidFill>
                  <a:schemeClr val="tx1"/>
                </a:solidFill>
              </a:rPr>
              <a:t>Aprende en línea, en una sola pasada</a:t>
            </a:r>
            <a:endParaRPr lang="en-US" sz="1500" dirty="0"/>
          </a:p>
          <a:p>
            <a:pPr marL="342900" indent="-342900">
              <a:spcAft>
                <a:spcPts val="800"/>
              </a:spcAft>
              <a:buSzPct val="100000"/>
              <a:buChar char="•"/>
            </a:pPr>
            <a:r>
              <a:rPr lang="en-US" sz="1500" dirty="0">
                <a:solidFill>
                  <a:schemeClr val="tx1"/>
                </a:solidFill>
              </a:rPr>
              <a:t>Lo nuevo no borra lo aprendido</a:t>
            </a:r>
            <a:endParaRPr lang="en-US" sz="1500" dirty="0"/>
          </a:p>
          <a:p>
            <a:pPr marL="342900" indent="-342900">
              <a:spcAft>
                <a:spcPts val="800"/>
              </a:spcAft>
              <a:buSzPct val="100000"/>
              <a:buChar char="•"/>
            </a:pPr>
            <a:r>
              <a:rPr lang="en-US" sz="1500" dirty="0">
                <a:solidFill>
                  <a:schemeClr val="tx1"/>
                </a:solidFill>
              </a:rPr>
              <a:t>Prototipos fáciles de interpretar</a:t>
            </a:r>
            <a:endParaRPr lang="en-US" sz="1500" dirty="0"/>
          </a:p>
        </p:txBody>
      </p:sp>
      <p:sp>
        <p:nvSpPr>
          <p:cNvPr id="7" name="Shape 4"/>
          <p:cNvSpPr/>
          <p:nvPr/>
        </p:nvSpPr>
        <p:spPr>
          <a:xfrm>
            <a:off x="4709160" y="1188720"/>
            <a:ext cx="3977640" cy="2651760"/>
          </a:xfrm>
          <a:prstGeom prst="roundRect">
            <a:avLst>
              <a:gd name="adj" fmla="val 4138"/>
            </a:avLst>
          </a:prstGeom>
          <a:solidFill>
            <a:srgbClr val="FCEAE5"/>
          </a:solidFill>
          <a:ln w="12700">
            <a:solidFill>
              <a:srgbClr val="FCEAE5"/>
            </a:solidFill>
            <a:prstDash val="solid"/>
          </a:ln>
        </p:spPr>
      </p:sp>
      <p:pic>
        <p:nvPicPr>
          <p:cNvPr id="8" name="Image 1" descr="preencoded.png">    </p:cNvPr>
          <p:cNvPicPr>
            <a:picLocks noChangeAspect="1"/>
          </p:cNvPicPr>
          <p:nvPr/>
        </p:nvPicPr>
        <p:blipFill>
          <a:blip r:embed="rId2"/>
          <a:stretch>
            <a:fillRect/>
          </a:stretch>
        </p:blipFill>
        <p:spPr>
          <a:xfrm>
            <a:off x="4983480" y="1371600"/>
            <a:ext cx="411480" cy="411480"/>
          </a:xfrm>
          <a:prstGeom prst="rect">
            <a:avLst/>
          </a:prstGeom>
        </p:spPr>
      </p:pic>
      <p:sp>
        <p:nvSpPr>
          <p:cNvPr id="9" name="Text 5"/>
          <p:cNvSpPr txBox="1"/>
          <p:nvPr/>
        </p:nvSpPr>
        <p:spPr>
          <a:xfrm>
            <a:off x="5532120" y="1371600"/>
            <a:ext cx="2926080" cy="411480"/>
          </a:xfrm>
          <a:prstGeom prst="rect">
            <a:avLst/>
          </a:prstGeom>
          <a:noFill/>
          <a:ln/>
        </p:spPr>
        <p:txBody>
          <a:bodyPr wrap="square" lIns="0" tIns="0" rIns="0" bIns="0" rtlCol="0" anchor="ctr"/>
          <a:lstStyle/>
          <a:p>
            <a:pPr indent="0" marL="0">
              <a:buNone/>
            </a:pPr>
            <a:r>
              <a:rPr lang="en-US" sz="1900" b="1" dirty="0">
                <a:solidFill>
                  <a:schemeClr val="tx1"/>
                </a:solidFill>
              </a:rPr>
              <a:t>Debilidades</a:t>
            </a:r>
            <a:endParaRPr lang="en-US" sz="1900" dirty="0"/>
          </a:p>
        </p:txBody>
      </p:sp>
      <p:sp>
        <p:nvSpPr>
          <p:cNvPr id="10" name="Text 6"/>
          <p:cNvSpPr txBox="1"/>
          <p:nvPr/>
        </p:nvSpPr>
        <p:spPr>
          <a:xfrm>
            <a:off x="4983480" y="1965960"/>
            <a:ext cx="3520440" cy="1783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ART-1 solo acepta datos binarios</a:t>
            </a:r>
            <a:endParaRPr lang="en-US" sz="1500" dirty="0"/>
          </a:p>
          <a:p>
            <a:pPr marL="342900" indent="-342900">
              <a:spcAft>
                <a:spcPts val="800"/>
              </a:spcAft>
              <a:buSzPct val="100000"/>
              <a:buChar char="•"/>
            </a:pPr>
            <a:r>
              <a:rPr lang="en-US" sz="1500" dirty="0">
                <a:solidFill>
                  <a:schemeClr val="tx1"/>
                </a:solidFill>
              </a:rPr>
              <a:t>Muy sensible al ruido (erosión por AND)</a:t>
            </a:r>
            <a:endParaRPr lang="en-US" sz="1500" dirty="0"/>
          </a:p>
          <a:p>
            <a:pPr marL="342900" indent="-342900">
              <a:spcAft>
                <a:spcPts val="800"/>
              </a:spcAft>
              <a:buSzPct val="100000"/>
              <a:buChar char="•"/>
            </a:pPr>
            <a:r>
              <a:rPr lang="en-US" sz="1500" dirty="0">
                <a:solidFill>
                  <a:schemeClr val="tx1"/>
                </a:solidFill>
              </a:rPr>
              <a:t>El resultado depende del orden</a:t>
            </a:r>
            <a:endParaRPr lang="en-US" sz="1500" dirty="0"/>
          </a:p>
          <a:p>
            <a:pPr marL="342900" indent="-342900">
              <a:spcAft>
                <a:spcPts val="800"/>
              </a:spcAft>
              <a:buSzPct val="100000"/>
              <a:buChar char="•"/>
            </a:pPr>
            <a:r>
              <a:rPr lang="en-US" sz="1500" dirty="0">
                <a:solidFill>
                  <a:schemeClr val="tx1"/>
                </a:solidFill>
              </a:rPr>
              <a:t>Elegir ρ requiere experimentar</a:t>
            </a:r>
            <a:endParaRPr lang="en-US" sz="1500" dirty="0"/>
          </a:p>
        </p:txBody>
      </p:sp>
      <p:sp>
        <p:nvSpPr>
          <p:cNvPr id="11" name="Text 7"/>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400" i="1" dirty="0">
                <a:solidFill>
                  <a:schemeClr val="accent1"/>
                </a:solidFill>
              </a:rPr>
              <a:t>Sus sucesoras, ART-2 y Fuzzy ART, aceptan entradas continuas y atenúan el problema del ruido.</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Diferencias con otras redes y algoritmos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286000"/>
                <a:gridCol w="1508760"/>
                <a:gridCol w="1143000"/>
                <a:gridCol w="1828800"/>
                <a:gridCol w="1463040"/>
              </a:tblGrid>
              <a:tr h="438912">
                <a:tc>
                  <a:txBody>
                    <a:bodyPr/>
                    <a:lstStyle/>
                    <a:p>
                      <a:pPr indent="0" marL="0">
                        <a:buNone/>
                      </a:pPr>
                      <a:r>
                        <a:rPr lang="en-US" sz="1400" b="1" dirty="0">
                          <a:solidFill>
                            <a:srgbClr val="FFFFFF"/>
                          </a:solidFill>
                        </a:rPr>
                        <a:t>Modelo</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1F6FB2"/>
                    </a:solidFill>
                  </a:tcPr>
                </a:tc>
                <a:tc>
                  <a:txBody>
                    <a:bodyPr/>
                    <a:lstStyle/>
                    <a:p>
                      <a:pPr indent="0" marL="0">
                        <a:buNone/>
                      </a:pPr>
                      <a:r>
                        <a:rPr lang="en-US" sz="1400" b="1" dirty="0">
                          <a:solidFill>
                            <a:srgbClr val="FFFFFF"/>
                          </a:solidFill>
                        </a:rPr>
                        <a:t>Aprendizaje</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1F6FB2"/>
                    </a:solidFill>
                  </a:tcPr>
                </a:tc>
                <a:tc>
                  <a:txBody>
                    <a:bodyPr/>
                    <a:lstStyle/>
                    <a:p>
                      <a:pPr indent="0" marL="0">
                        <a:buNone/>
                      </a:pPr>
                      <a:r>
                        <a:rPr lang="en-US" sz="1400" b="1" dirty="0">
                          <a:solidFill>
                            <a:srgbClr val="FFFFFF"/>
                          </a:solidFill>
                        </a:rPr>
                        <a:t>Entradas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1F6FB2"/>
                    </a:solidFill>
                  </a:tcPr>
                </a:tc>
                <a:tc>
                  <a:txBody>
                    <a:bodyPr/>
                    <a:lstStyle/>
                    <a:p>
                      <a:pPr indent="0" marL="0">
                        <a:buNone/>
                      </a:pPr>
                      <a:r>
                        <a:rPr lang="en-US" sz="1400" b="1" dirty="0">
                          <a:solidFill>
                            <a:srgbClr val="FFFFFF"/>
                          </a:solidFill>
                        </a:rPr>
                        <a:t>Cantidad de clases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1F6FB2"/>
                    </a:solidFill>
                  </a:tcPr>
                </a:tc>
                <a:tc>
                  <a:txBody>
                    <a:bodyPr/>
                    <a:lstStyle/>
                    <a:p>
                      <a:pPr indent="0" marL="0">
                        <a:buNone/>
                      </a:pPr>
                      <a:r>
                        <a:rPr lang="en-US" sz="1400" b="1" dirty="0">
                          <a:solidFill>
                            <a:srgbClr val="FFFFFF"/>
                          </a:solidFill>
                        </a:rPr>
                        <a:t>Aprende sin olvidar</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1F6FB2"/>
                    </a:solidFill>
                  </a:tcPr>
                </a:tc>
              </a:tr>
              <a:tr h="438912">
                <a:tc>
                  <a:txBody>
                    <a:bodyPr/>
                    <a:lstStyle/>
                    <a:p>
                      <a:pPr indent="0" marL="0">
                        <a:buNone/>
                      </a:pPr>
                      <a:r>
                        <a:rPr lang="en-US" sz="1400" dirty="0">
                          <a:solidFill>
                            <a:srgbClr val="14213D"/>
                          </a:solidFill>
                        </a:rPr>
                        <a:t>Perceptrón</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Supervisado</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Continuas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Fija (2)</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No</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4213D"/>
                          </a:solidFill>
                        </a:rPr>
                        <a:t>Red de Hamming</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Ejemplares dados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Binarias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Fija</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No</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4213D"/>
                          </a:solidFill>
                        </a:rPr>
                        <a:t>Kohonen (SOM)</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No supervisado</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Continuas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Fija (tamaño del mapa)</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No, usa épocas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4213D"/>
                          </a:solidFill>
                        </a:rPr>
                        <a:t>K-Means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No supervisado</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Continuas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Fija (K)</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No, usa épocas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4213D"/>
                          </a:solidFill>
                        </a:rPr>
                        <a:t>Carpenter-Grossberg (ART-1)</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CEBDD"/>
                    </a:solidFill>
                  </a:tcPr>
                </a:tc>
                <a:tc>
                  <a:txBody>
                    <a:bodyPr/>
                    <a:lstStyle/>
                    <a:p>
                      <a:pPr indent="0" marL="0">
                        <a:buNone/>
                      </a:pPr>
                      <a:r>
                        <a:rPr lang="en-US" sz="1400" dirty="0">
                          <a:solidFill>
                            <a:srgbClr val="14213D"/>
                          </a:solidFill>
                        </a:rPr>
                        <a:t>No supervisado</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CEBDD"/>
                    </a:solidFill>
                  </a:tcPr>
                </a:tc>
                <a:tc>
                  <a:txBody>
                    <a:bodyPr/>
                    <a:lstStyle/>
                    <a:p>
                      <a:pPr indent="0" marL="0">
                        <a:buNone/>
                      </a:pPr>
                      <a:r>
                        <a:rPr lang="en-US" sz="1400" dirty="0">
                          <a:solidFill>
                            <a:srgbClr val="14213D"/>
                          </a:solidFill>
                        </a:rPr>
                        <a:t>Binarias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CEBDD"/>
                    </a:solidFill>
                  </a:tcPr>
                </a:tc>
                <a:tc>
                  <a:txBody>
                    <a:bodyPr/>
                    <a:lstStyle/>
                    <a:p>
                      <a:pPr indent="0" marL="0">
                        <a:buNone/>
                      </a:pPr>
                      <a:r>
                        <a:rPr lang="en-US" sz="1400" dirty="0">
                          <a:solidFill>
                            <a:srgbClr val="14213D"/>
                          </a:solidFill>
                        </a:rPr>
                        <a:t>Crece según ρ</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CEBDD"/>
                    </a:solidFill>
                  </a:tcPr>
                </a:tc>
                <a:tc>
                  <a:txBody>
                    <a:bodyPr/>
                    <a:lstStyle/>
                    <a:p>
                      <a:pPr indent="0" marL="0">
                        <a:buNone/>
                      </a:pPr>
                      <a:r>
                        <a:rPr lang="en-US" sz="1400" dirty="0">
                          <a:solidFill>
                            <a:srgbClr val="14213D"/>
                          </a:solidFill>
                        </a:rPr>
                        <a:t>Sí</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CEBDD"/>
                    </a:solidFill>
                  </a:tcPr>
                </a:tc>
              </a:tr>
              <a:tr h="438912">
                <a:tc>
                  <a:txBody>
                    <a:bodyPr/>
                    <a:lstStyle/>
                    <a:p>
                      <a:pPr indent="0" marL="0">
                        <a:buNone/>
                      </a:pPr>
                      <a:r>
                        <a:rPr lang="en-US" sz="1400" dirty="0">
                          <a:solidFill>
                            <a:srgbClr val="14213D"/>
                          </a:solidFill>
                        </a:rPr>
                        <a:t>Fuzzy ART / ART-2</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No supervisado</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Continuas</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Crece según ρ</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rPr>
                        <a:t>Sí</a:t>
                      </a:r>
                      <a:endParaRPr lang="en-US" sz="1400" dirty="0"/>
                    </a:p>
                  </a:txBody>
                  <a:tcPr marL="54864" marR="54864" marT="54864" marB="54864" anchor="ctr">
                    <a:lnL w="9525" cap="flat" cmpd="sng" algn="ctr">
                      <a:solidFill>
                        <a:srgbClr val="C8D3DE"/>
                      </a:solidFill>
                      <a:prstDash val="solid"/>
                      <a:round/>
                      <a:headEnd type="none" w="med" len="med"/>
                      <a:tailEnd type="none" w="med" len="med"/>
                    </a:lnL>
                    <a:lnR w="9525" cap="flat" cmpd="sng" algn="ctr">
                      <a:solidFill>
                        <a:srgbClr val="C8D3DE"/>
                      </a:solidFill>
                      <a:prstDash val="solid"/>
                      <a:round/>
                      <a:headEnd type="none" w="med" len="med"/>
                      <a:tailEnd type="none" w="med" len="med"/>
                    </a:lnR>
                    <a:lnT w="9525" cap="flat" cmpd="sng" algn="ctr">
                      <a:solidFill>
                        <a:srgbClr val="C8D3DE"/>
                      </a:solidFill>
                      <a:prstDash val="solid"/>
                      <a:round/>
                      <a:headEnd type="none" w="med" len="med"/>
                      <a:tailEnd type="none" w="med" len="med"/>
                    </a:lnT>
                    <a:lnB w="9525" cap="flat" cmpd="sng" algn="ctr">
                      <a:solidFill>
                        <a:srgbClr val="C8D3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Lo que nos llevamos</a:t>
            </a:r>
            <a:endParaRPr lang="en-US" sz="3000" dirty="0"/>
          </a:p>
        </p:txBody>
      </p:sp>
      <p:sp>
        <p:nvSpPr>
          <p:cNvPr id="3" name="neurona"/>
          <p:cNvSpPr/>
          <p:nvPr/>
        </p:nvSpPr>
        <p:spPr>
          <a:xfrm>
            <a:off x="457200" y="1188720"/>
            <a:ext cx="640080" cy="64008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617220" y="1348740"/>
            <a:ext cx="320040" cy="320040"/>
          </a:xfrm>
          <a:prstGeom prst="rect">
            <a:avLst/>
          </a:prstGeom>
        </p:spPr>
      </p:pic>
      <p:sp>
        <p:nvSpPr>
          <p:cNvPr id="5" name="Text 2"/>
          <p:cNvSpPr txBox="1"/>
          <p:nvPr/>
        </p:nvSpPr>
        <p:spPr>
          <a:xfrm>
            <a:off x="1280160" y="1170432"/>
            <a:ext cx="7315200" cy="822960"/>
          </a:xfrm>
          <a:prstGeom prst="rect">
            <a:avLst/>
          </a:prstGeom>
          <a:noFill/>
          <a:ln/>
        </p:spPr>
        <p:txBody>
          <a:bodyPr wrap="square" lIns="0" tIns="0" rIns="0" bIns="0" rtlCol="0" anchor="t"/>
          <a:lstStyle/>
          <a:p>
            <a:pPr indent="0" marL="0">
              <a:buNone/>
            </a:pPr>
            <a:r>
              <a:rPr lang="en-US" sz="1700" b="1" dirty="0">
                <a:solidFill>
                  <a:schemeClr val="bg1"/>
                </a:solidFill>
              </a:rPr>
              <a:t>Resonancia</a:t>
            </a:r>
            <a:endParaRPr lang="en-US" sz="1500" dirty="0"/>
          </a:p>
          <a:p>
            <a:pPr indent="0" marL="0">
              <a:buNone/>
            </a:pPr>
            <a:r>
              <a:rPr lang="en-US" sz="1500" dirty="0">
                <a:solidFill>
                  <a:schemeClr val="bg2"/>
                </a:solidFill>
              </a:rPr>
              <a:t>La red aprende solo cuando lo que ve coincide con lo que recuerda: así evita olvidar.</a:t>
            </a:r>
            <a:endParaRPr lang="en-US" sz="1500" dirty="0"/>
          </a:p>
        </p:txBody>
      </p:sp>
      <p:sp>
        <p:nvSpPr>
          <p:cNvPr id="6" name="neurona"/>
          <p:cNvSpPr/>
          <p:nvPr/>
        </p:nvSpPr>
        <p:spPr>
          <a:xfrm>
            <a:off x="457200" y="2103120"/>
            <a:ext cx="640080" cy="640080"/>
          </a:xfrm>
          <a:prstGeom prst="ellipse">
            <a:avLst/>
          </a:prstGeom>
          <a:solidFill>
            <a:schemeClr val="accent1"/>
          </a:solidFill>
          <a:ln w="12700">
            <a:solidFill>
              <a:schemeClr val="accent1"/>
            </a:solidFill>
            <a:prstDash val="solid"/>
          </a:ln>
        </p:spPr>
      </p:sp>
      <p:pic>
        <p:nvPicPr>
          <p:cNvPr id="7" name="Image 1" descr="preencoded.png">    </p:cNvPr>
          <p:cNvPicPr>
            <a:picLocks noChangeAspect="1"/>
          </p:cNvPicPr>
          <p:nvPr/>
        </p:nvPicPr>
        <p:blipFill>
          <a:blip r:embed="rId2"/>
          <a:stretch>
            <a:fillRect/>
          </a:stretch>
        </p:blipFill>
        <p:spPr>
          <a:xfrm>
            <a:off x="617220" y="2263140"/>
            <a:ext cx="320040" cy="320040"/>
          </a:xfrm>
          <a:prstGeom prst="rect">
            <a:avLst/>
          </a:prstGeom>
        </p:spPr>
      </p:pic>
      <p:sp>
        <p:nvSpPr>
          <p:cNvPr id="8" name="Text 4"/>
          <p:cNvSpPr txBox="1"/>
          <p:nvPr/>
        </p:nvSpPr>
        <p:spPr>
          <a:xfrm>
            <a:off x="1280160" y="2084832"/>
            <a:ext cx="7315200" cy="822960"/>
          </a:xfrm>
          <a:prstGeom prst="rect">
            <a:avLst/>
          </a:prstGeom>
          <a:noFill/>
          <a:ln/>
        </p:spPr>
        <p:txBody>
          <a:bodyPr wrap="square" lIns="0" tIns="0" rIns="0" bIns="0" rtlCol="0" anchor="t"/>
          <a:lstStyle/>
          <a:p>
            <a:pPr indent="0" marL="0">
              <a:buNone/>
            </a:pPr>
            <a:r>
              <a:rPr lang="en-US" sz="1700" b="1" dirty="0">
                <a:solidFill>
                  <a:schemeClr val="bg1"/>
                </a:solidFill>
              </a:rPr>
              <a:t>Vigilancia</a:t>
            </a:r>
            <a:endParaRPr lang="en-US" sz="1500" dirty="0"/>
          </a:p>
          <a:p>
            <a:pPr indent="0" marL="0">
              <a:buNone/>
            </a:pPr>
            <a:r>
              <a:rPr lang="en-US" sz="1500" dirty="0">
                <a:solidFill>
                  <a:schemeClr val="bg2"/>
                </a:solidFill>
              </a:rPr>
              <a:t>ρ es la lupa de la red: define cuánto detalle mira y cuándo algo es nuevo.</a:t>
            </a:r>
            <a:endParaRPr lang="en-US" sz="1500" dirty="0"/>
          </a:p>
        </p:txBody>
      </p:sp>
      <p:sp>
        <p:nvSpPr>
          <p:cNvPr id="9" name="neurona"/>
          <p:cNvSpPr/>
          <p:nvPr/>
        </p:nvSpPr>
        <p:spPr>
          <a:xfrm>
            <a:off x="457200" y="3017520"/>
            <a:ext cx="640080" cy="640080"/>
          </a:xfrm>
          <a:prstGeom prst="ellipse">
            <a:avLst/>
          </a:prstGeom>
          <a:solidFill>
            <a:schemeClr val="accent2"/>
          </a:solidFill>
          <a:ln w="12700">
            <a:solidFill>
              <a:schemeClr val="accent2"/>
            </a:solidFill>
            <a:prstDash val="solid"/>
          </a:ln>
        </p:spPr>
      </p:sp>
      <p:pic>
        <p:nvPicPr>
          <p:cNvPr id="10" name="Image 2" descr="preencoded.png">    </p:cNvPr>
          <p:cNvPicPr>
            <a:picLocks noChangeAspect="1"/>
          </p:cNvPicPr>
          <p:nvPr/>
        </p:nvPicPr>
        <p:blipFill>
          <a:blip r:embed="rId3"/>
          <a:stretch>
            <a:fillRect/>
          </a:stretch>
        </p:blipFill>
        <p:spPr>
          <a:xfrm>
            <a:off x="617220" y="3177540"/>
            <a:ext cx="320040" cy="320040"/>
          </a:xfrm>
          <a:prstGeom prst="rect">
            <a:avLst/>
          </a:prstGeom>
        </p:spPr>
      </p:pic>
      <p:sp>
        <p:nvSpPr>
          <p:cNvPr id="11" name="Text 6"/>
          <p:cNvSpPr txBox="1"/>
          <p:nvPr/>
        </p:nvSpPr>
        <p:spPr>
          <a:xfrm>
            <a:off x="1280160" y="2999232"/>
            <a:ext cx="7315200" cy="822960"/>
          </a:xfrm>
          <a:prstGeom prst="rect">
            <a:avLst/>
          </a:prstGeom>
          <a:noFill/>
          <a:ln/>
        </p:spPr>
        <p:txBody>
          <a:bodyPr wrap="square" lIns="0" tIns="0" rIns="0" bIns="0" rtlCol="0" anchor="t"/>
          <a:lstStyle/>
          <a:p>
            <a:pPr indent="0" marL="0">
              <a:buNone/>
            </a:pPr>
            <a:r>
              <a:rPr lang="en-US" sz="1700" b="1" dirty="0">
                <a:solidFill>
                  <a:schemeClr val="bg1"/>
                </a:solidFill>
              </a:rPr>
              <a:t>Anomalías sin etiquetas</a:t>
            </a:r>
            <a:endParaRPr lang="en-US" sz="1500" dirty="0"/>
          </a:p>
          <a:p>
            <a:pPr indent="0" marL="0">
              <a:buNone/>
            </a:pPr>
            <a:r>
              <a:rPr lang="en-US" sz="1500" dirty="0">
                <a:solidFill>
                  <a:schemeClr val="bg2"/>
                </a:solidFill>
              </a:rPr>
              <a:t>Con ρ = 0.7 distinguió el estrés del servidor sin que nadie se lo enseñe.</a:t>
            </a:r>
            <a:endParaRPr lang="en-US" sz="1500" dirty="0"/>
          </a:p>
        </p:txBody>
      </p:sp>
      <p:sp>
        <p:nvSpPr>
          <p:cNvPr id="12" name="Shape 7"/>
          <p:cNvSpPr/>
          <p:nvPr/>
        </p:nvSpPr>
        <p:spPr>
          <a:xfrm>
            <a:off x="457200" y="3977640"/>
            <a:ext cx="8229600" cy="640080"/>
          </a:xfrm>
          <a:prstGeom prst="roundRect">
            <a:avLst>
              <a:gd name="adj" fmla="val 17143"/>
            </a:avLst>
          </a:prstGeom>
          <a:solidFill>
            <a:srgbClr val="1B2A3D"/>
          </a:solidFill>
          <a:ln w="12700">
            <a:solidFill>
              <a:srgbClr val="1B2A3D"/>
            </a:solidFill>
            <a:prstDash val="solid"/>
          </a:ln>
        </p:spPr>
      </p:sp>
      <p:sp>
        <p:nvSpPr>
          <p:cNvPr id="13" name="Text 8"/>
          <p:cNvSpPr txBox="1"/>
          <p:nvPr/>
        </p:nvSpPr>
        <p:spPr>
          <a:xfrm>
            <a:off x="685800" y="3977640"/>
            <a:ext cx="7863840" cy="640080"/>
          </a:xfrm>
          <a:prstGeom prst="rect">
            <a:avLst/>
          </a:prstGeom>
          <a:noFill/>
          <a:ln/>
        </p:spPr>
        <p:txBody>
          <a:bodyPr wrap="square" lIns="0" tIns="0" rIns="0" bIns="0" rtlCol="0" anchor="ctr"/>
          <a:lstStyle/>
          <a:p>
            <a:pPr indent="0" marL="0">
              <a:buNone/>
            </a:pPr>
            <a:r>
              <a:rPr lang="en-US" sz="1400" b="1" dirty="0">
                <a:solidFill>
                  <a:schemeClr val="accent2"/>
                </a:solidFill>
              </a:rPr>
              <a:t>Probalo:  </a:t>
            </a:r>
            <a:pPr indent="0" marL="0">
              <a:buNone/>
            </a:pPr>
            <a:r>
              <a:rPr lang="en-US" sz="1400" dirty="0">
                <a:solidFill>
                  <a:schemeClr val="bg1"/>
                </a:solidFill>
                <a:latin typeface="Courier New" pitchFamily="34" charset="0"/>
                <a:ea typeface="Courier New" pitchFamily="34" charset="-122"/>
                <a:cs typeface="Courier New" pitchFamily="34" charset="-120"/>
              </a:rPr>
              <a:t>python3 CarGross.py -d dataset_telemetria_base.csv -p 0.5</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Museo ART">
  <a:themeElements>
    <a:clrScheme name="Museo ART">
      <a:dk1>
        <a:srgbClr val="14213D"/>
      </a:dk1>
      <a:lt1>
        <a:srgbClr val="FFFFFF"/>
      </a:lt1>
      <a:dk2>
        <a:srgbClr val="0D1B2A"/>
      </a:dk2>
      <a:lt2>
        <a:srgbClr val="EEF3F8"/>
      </a:lt2>
      <a:accent1>
        <a:srgbClr val="1F6FB2"/>
      </a:accent1>
      <a:accent2>
        <a:srgbClr val="F2994A"/>
      </a:accent2>
      <a:accent3>
        <a:srgbClr val="2A9D8F"/>
      </a:accent3>
      <a:accent4>
        <a:srgbClr val="E76F51"/>
      </a:accent4>
      <a:accent5>
        <a:srgbClr val="8D99AE"/>
      </a:accent5>
      <a:accent6>
        <a:srgbClr val="5E548E"/>
      </a:accent6>
      <a:hlink>
        <a:srgbClr val="1F6FB2"/>
      </a:hlink>
      <a:folHlink>
        <a:srgbClr val="5E548E"/>
      </a:folHlink>
    </a:clrScheme>
    <a:fontScheme name="Museo A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Carpenter-Grossberg: la red que aprende sin olvidar</dc:title>
  <dc:subject>PptxGenJS Presentation</dc:subject>
  <dc:creator>Equipo TFI CarGross</dc:creator>
  <cp:lastModifiedBy>Equipo TFI CarGross</cp:lastModifiedBy>
  <cp:revision>1</cp:revision>
  <dcterms:created xsi:type="dcterms:W3CDTF">2026-10-19T15:00:27Z</dcterms:created>
  <dcterms:modified xsi:type="dcterms:W3CDTF">2026-10-19T15:00:27Z</dcterms:modified>
</cp:coreProperties>
</file>